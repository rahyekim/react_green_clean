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  <p:sldMasterId id="2147483673" r:id="rId2"/>
  </p:sldMasterIdLst>
  <p:notesMasterIdLst>
    <p:notesMasterId r:id="rId9"/>
  </p:notesMasterIdLst>
  <p:handoutMasterIdLst>
    <p:handoutMasterId r:id="rId10"/>
  </p:handoutMasterIdLst>
  <p:sldIdLst>
    <p:sldId id="398" r:id="rId3"/>
    <p:sldId id="409" r:id="rId4"/>
    <p:sldId id="403" r:id="rId5"/>
    <p:sldId id="404" r:id="rId6"/>
    <p:sldId id="412" r:id="rId7"/>
    <p:sldId id="406" r:id="rId8"/>
  </p:sldIdLst>
  <p:sldSz cx="9144000" cy="5715000" type="screen16x10"/>
  <p:notesSz cx="6735763" cy="9866313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80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07">
          <p15:clr>
            <a:srgbClr val="A4A3A4"/>
          </p15:clr>
        </p15:guide>
        <p15:guide id="2" pos="2121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user" initials="u" lastIdx="4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D393"/>
    <a:srgbClr val="FF8C2F"/>
    <a:srgbClr val="F47710"/>
    <a:srgbClr val="FFF2E9"/>
    <a:srgbClr val="0078D7"/>
    <a:srgbClr val="F2F2F2"/>
    <a:srgbClr val="FFFFE1"/>
    <a:srgbClr val="FFFF93"/>
    <a:srgbClr val="F7F7F7"/>
    <a:srgbClr val="F9F9F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2A488322-F2BA-4B5B-9748-0D474271808F}" styleName="보통 스타일 3 - 강조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7930" autoAdjust="0"/>
    <p:restoredTop sz="94660"/>
  </p:normalViewPr>
  <p:slideViewPr>
    <p:cSldViewPr>
      <p:cViewPr varScale="1">
        <p:scale>
          <a:sx n="126" d="100"/>
          <a:sy n="126" d="100"/>
        </p:scale>
        <p:origin x="1554" y="102"/>
      </p:cViewPr>
      <p:guideLst>
        <p:guide orient="horz" pos="180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>
      <p:cViewPr varScale="1">
        <p:scale>
          <a:sx n="81" d="100"/>
          <a:sy n="81" d="100"/>
        </p:scale>
        <p:origin x="-3990" y="-90"/>
      </p:cViewPr>
      <p:guideLst>
        <p:guide orient="horz" pos="3107"/>
        <p:guide pos="2121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viewProps" Target="viewProp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commentAuthors" Target="commentAuthors.xml"/><Relationship Id="rId5" Type="http://schemas.openxmlformats.org/officeDocument/2006/relationships/slide" Target="slides/slide3.xml"/><Relationship Id="rId15" Type="http://schemas.openxmlformats.org/officeDocument/2006/relationships/tableStyles" Target="tableStyles.xml"/><Relationship Id="rId10" Type="http://schemas.openxmlformats.org/officeDocument/2006/relationships/handoutMaster" Target="handoutMasters/handoutMaster1.xml"/><Relationship Id="rId4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4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19413" cy="49371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14763" y="0"/>
            <a:ext cx="2919412" cy="49371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99972AA-FE3A-41E8-94D7-0A348C1614D1}" type="datetimeFigureOut">
              <a:rPr lang="ko-KR" altLang="en-US" smtClean="0"/>
              <a:t>2026-08-06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9371013"/>
            <a:ext cx="2919413" cy="49371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14763" y="9371013"/>
            <a:ext cx="2919412" cy="49371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3B63632-7804-4AD9-A8DE-B9F04656911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6688097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18831" cy="49331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15373" y="0"/>
            <a:ext cx="2918831" cy="49331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B25E66B-2806-4CC0-B543-C1F698B8CB0C}" type="datetimeFigureOut">
              <a:rPr lang="ko-KR" altLang="en-US" smtClean="0"/>
              <a:t>2026-08-06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407988" y="739775"/>
            <a:ext cx="5919787" cy="370046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3577" y="4686499"/>
            <a:ext cx="5388610" cy="4439841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371285"/>
            <a:ext cx="2918831" cy="493316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15373" y="9371285"/>
            <a:ext cx="2918831" cy="493316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C76DB6A-589F-43F9-84B6-ACD2F062FAB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535483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C76DB6A-589F-43F9-84B6-ACD2F062FABB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220037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C76DB6A-589F-43F9-84B6-ACD2F062FABB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220037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C76DB6A-589F-43F9-84B6-ACD2F062FABB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618461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 txBox="1">
            <a:spLocks/>
          </p:cNvSpPr>
          <p:nvPr userDrawn="1"/>
        </p:nvSpPr>
        <p:spPr>
          <a:xfrm>
            <a:off x="6400800" y="5505147"/>
            <a:ext cx="2743200" cy="23228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B9C4B17B-A05E-4182-9286-FAF5968200C5}" type="slidenum">
              <a:rPr lang="ko-KR" altLang="en-US" sz="900" smtClean="0"/>
              <a:pPr/>
              <a:t>‹#›</a:t>
            </a:fld>
            <a:endParaRPr lang="ko-KR" altLang="en-US" sz="900" dirty="0"/>
          </a:p>
        </p:txBody>
      </p:sp>
      <p:sp>
        <p:nvSpPr>
          <p:cNvPr id="7" name="바닥글 개체 틀 4"/>
          <p:cNvSpPr txBox="1">
            <a:spLocks/>
          </p:cNvSpPr>
          <p:nvPr userDrawn="1"/>
        </p:nvSpPr>
        <p:spPr>
          <a:xfrm>
            <a:off x="1825918" y="5502743"/>
            <a:ext cx="5492164" cy="232279"/>
          </a:xfrm>
          <a:prstGeom prst="rect">
            <a:avLst/>
          </a:prstGeom>
        </p:spPr>
        <p:txBody>
          <a:bodyPr vert="horz" wrap="square" lIns="81037" tIns="40519" rIns="81037" bIns="40519" numCol="1" rtlCol="0" anchor="ctr" anchorCtr="0" compatLnSpc="1">
            <a:prstTxWarp prst="textNoShape">
              <a:avLst/>
            </a:prstTxWarp>
          </a:bodyPr>
          <a:lstStyle>
            <a:defPPr>
              <a:defRPr lang="ko-KR"/>
            </a:defPPr>
            <a:lvl1pPr marL="0" algn="ctr" defTabSz="914400" rtl="0" eaLnBrk="1" latinLnBrk="1" hangingPunct="1">
              <a:defRPr sz="700" kern="120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ko-KR" sz="600" dirty="0"/>
              <a:t>Copyright © 2026</a:t>
            </a:r>
            <a:r>
              <a:rPr lang="ko-KR" altLang="en-US" sz="600" dirty="0"/>
              <a:t> </a:t>
            </a:r>
            <a:r>
              <a:rPr lang="en-US" altLang="ko-KR" sz="600" dirty="0" err="1"/>
              <a:t>GreenComputer</a:t>
            </a:r>
            <a:r>
              <a:rPr lang="en-US" altLang="ko-KR" sz="600" dirty="0"/>
              <a:t>, ltd.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22257400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 txBox="1">
            <a:spLocks/>
          </p:cNvSpPr>
          <p:nvPr userDrawn="1"/>
        </p:nvSpPr>
        <p:spPr>
          <a:xfrm>
            <a:off x="6400800" y="5505147"/>
            <a:ext cx="2743200" cy="23228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B9C4B17B-A05E-4182-9286-FAF5968200C5}" type="slidenum">
              <a:rPr lang="ko-KR" altLang="en-US" sz="900" smtClean="0"/>
              <a:pPr/>
              <a:t>‹#›</a:t>
            </a:fld>
            <a:endParaRPr lang="ko-KR" altLang="en-US" sz="900" dirty="0"/>
          </a:p>
        </p:txBody>
      </p:sp>
      <p:sp>
        <p:nvSpPr>
          <p:cNvPr id="7" name="바닥글 개체 틀 4"/>
          <p:cNvSpPr txBox="1">
            <a:spLocks/>
          </p:cNvSpPr>
          <p:nvPr userDrawn="1"/>
        </p:nvSpPr>
        <p:spPr>
          <a:xfrm>
            <a:off x="1825918" y="5502743"/>
            <a:ext cx="5492164" cy="232279"/>
          </a:xfrm>
          <a:prstGeom prst="rect">
            <a:avLst/>
          </a:prstGeom>
        </p:spPr>
        <p:txBody>
          <a:bodyPr vert="horz" wrap="square" lIns="81037" tIns="40519" rIns="81037" bIns="40519" numCol="1" rtlCol="0" anchor="ctr" anchorCtr="0" compatLnSpc="1">
            <a:prstTxWarp prst="textNoShape">
              <a:avLst/>
            </a:prstTxWarp>
          </a:bodyPr>
          <a:lstStyle>
            <a:defPPr>
              <a:defRPr lang="ko-KR"/>
            </a:defPPr>
            <a:lvl1pPr marL="0" algn="ctr" defTabSz="914400" rtl="0" eaLnBrk="1" latinLnBrk="1" hangingPunct="1">
              <a:defRPr sz="700" kern="120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ko-KR" sz="600" dirty="0"/>
              <a:t>Copyright © </a:t>
            </a:r>
            <a:r>
              <a:rPr lang="en-US" altLang="ko-KR" sz="600" dirty="0" err="1"/>
              <a:t>GreenComputer</a:t>
            </a:r>
            <a:r>
              <a:rPr lang="en-US" altLang="ko-KR" sz="600" dirty="0"/>
              <a:t>, ltd. All rights reserved.</a:t>
            </a:r>
          </a:p>
        </p:txBody>
      </p:sp>
      <p:cxnSp>
        <p:nvCxnSpPr>
          <p:cNvPr id="24" name="직선 연결선 23"/>
          <p:cNvCxnSpPr/>
          <p:nvPr userDrawn="1"/>
        </p:nvCxnSpPr>
        <p:spPr>
          <a:xfrm>
            <a:off x="6968736" y="193204"/>
            <a:ext cx="0" cy="5112568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634197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1774825"/>
            <a:ext cx="7772400" cy="1225550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3238500"/>
            <a:ext cx="6400800" cy="14605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25101486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1774825"/>
            <a:ext cx="7772400" cy="1225550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3238500"/>
            <a:ext cx="6400800" cy="14605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E73EF2-4B26-4644-88A6-85759682C0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640778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E73EF2-4B26-4644-88A6-85759682C0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756253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3671888"/>
            <a:ext cx="7772400" cy="1135062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422525"/>
            <a:ext cx="7772400" cy="1249363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E73EF2-4B26-4644-88A6-85759682C0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699041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333500"/>
            <a:ext cx="4038600" cy="37719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333500"/>
            <a:ext cx="4038600" cy="37719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E73EF2-4B26-4644-88A6-85759682C0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417498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279525"/>
            <a:ext cx="4040188" cy="533400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1812925"/>
            <a:ext cx="4040188" cy="3292475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5" y="1279525"/>
            <a:ext cx="4041775" cy="533400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5" y="1812925"/>
            <a:ext cx="4041775" cy="3292475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E73EF2-4B26-4644-88A6-85759682C0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83511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E73EF2-4B26-4644-88A6-85759682C0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696630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E73EF2-4B26-4644-88A6-85759682C0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58013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27013"/>
            <a:ext cx="3008313" cy="968375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27013"/>
            <a:ext cx="5111750" cy="4878387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0" y="1195388"/>
            <a:ext cx="3008313" cy="391001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E73EF2-4B26-4644-88A6-85759682C0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089932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4000500"/>
            <a:ext cx="5486400" cy="473075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511175"/>
            <a:ext cx="5486400" cy="34290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4473575"/>
            <a:ext cx="5486400" cy="669925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E73EF2-4B26-4644-88A6-85759682C0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2616234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E73EF2-4B26-4644-88A6-85759682C0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3696034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28600"/>
            <a:ext cx="2057400" cy="4876800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28600"/>
            <a:ext cx="6019800" cy="4876800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E73EF2-4B26-4644-88A6-85759682C0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17766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1.xml"/><Relationship Id="rId3" Type="http://schemas.openxmlformats.org/officeDocument/2006/relationships/slideLayout" Target="../slideLayouts/slideLayout6.xml"/><Relationship Id="rId7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5.xml"/><Relationship Id="rId1" Type="http://schemas.openxmlformats.org/officeDocument/2006/relationships/slideLayout" Target="../slideLayouts/slideLayout4.xml"/><Relationship Id="rId6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4.xml"/><Relationship Id="rId5" Type="http://schemas.openxmlformats.org/officeDocument/2006/relationships/slideLayout" Target="../slideLayouts/slideLayout8.xml"/><Relationship Id="rId10" Type="http://schemas.openxmlformats.org/officeDocument/2006/relationships/slideLayout" Target="../slideLayouts/slideLayout13.xml"/><Relationship Id="rId4" Type="http://schemas.openxmlformats.org/officeDocument/2006/relationships/slideLayout" Target="../slideLayouts/slideLayout7.xml"/><Relationship Id="rId9" Type="http://schemas.openxmlformats.org/officeDocument/2006/relationships/slideLayout" Target="../slideLayouts/slideLayout1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28865"/>
            <a:ext cx="8229600" cy="9525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333500"/>
            <a:ext cx="8229600" cy="377163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graphicFrame>
        <p:nvGraphicFramePr>
          <p:cNvPr id="7" name="표 6"/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216263855"/>
              </p:ext>
            </p:extLst>
          </p:nvPr>
        </p:nvGraphicFramePr>
        <p:xfrm>
          <a:off x="0" y="1"/>
          <a:ext cx="9143999" cy="537138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196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0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4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0405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20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600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600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1805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18147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1717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93203">
                <a:tc>
                  <a:txBody>
                    <a:bodyPr/>
                    <a:lstStyle/>
                    <a:p>
                      <a:pPr latinLnBrk="1"/>
                      <a:endParaRPr lang="ko-KR" altLang="en-US" sz="600" b="1" dirty="0">
                        <a:solidFill>
                          <a:schemeClr val="bg1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393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b="1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Title</a:t>
                      </a:r>
                      <a:endParaRPr lang="ko-KR" altLang="en-US" sz="600" b="1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393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도서검색 서비스 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393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b="1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Made</a:t>
                      </a:r>
                      <a:r>
                        <a:rPr lang="en-US" altLang="ko-KR" sz="600" b="1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by</a:t>
                      </a:r>
                      <a:endParaRPr lang="ko-KR" altLang="en-US" sz="600" b="1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393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600" b="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김라혜</a:t>
                      </a:r>
                      <a:endParaRPr lang="ko-KR" altLang="en-US" sz="6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393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b="1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Ver</a:t>
                      </a:r>
                      <a:r>
                        <a:rPr lang="en-US" altLang="ko-KR" sz="60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.</a:t>
                      </a:r>
                      <a:endParaRPr lang="ko-KR" altLang="en-US" sz="60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393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1.0</a:t>
                      </a:r>
                      <a:endParaRPr lang="ko-KR" altLang="en-US" sz="6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393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b="1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Last updated</a:t>
                      </a:r>
                      <a:endParaRPr lang="ko-KR" altLang="en-US" sz="600" b="1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393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2026-08-18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39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600" b="1" u="none" spc="7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39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78183">
                <a:tc gridSpan="10">
                  <a:txBody>
                    <a:bodyPr/>
                    <a:lstStyle/>
                    <a:p>
                      <a:pPr latinLnBrk="1"/>
                      <a:endParaRPr lang="ko-KR" altLang="en-US" sz="700" b="1" dirty="0">
                        <a:solidFill>
                          <a:schemeClr val="bg1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T="45703" marB="45703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700" b="1" dirty="0">
                        <a:solidFill>
                          <a:srgbClr val="FFFF00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T="45703" marB="45703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700" b="0" dirty="0">
                        <a:solidFill>
                          <a:schemeClr val="bg1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T="45703" marB="45703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700" b="1" dirty="0">
                        <a:solidFill>
                          <a:srgbClr val="FFFF00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T="45703" marB="45703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 latinLnBrk="1"/>
                      <a:endParaRPr lang="ko-KR" altLang="en-US" sz="700" b="0" dirty="0">
                        <a:solidFill>
                          <a:schemeClr val="bg1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T="45703" marB="45703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700" b="1" dirty="0">
                        <a:solidFill>
                          <a:srgbClr val="FFFF00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T="45703" marB="45703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700" b="0" dirty="0">
                        <a:solidFill>
                          <a:schemeClr val="bg1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T="45703" marB="45703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700" b="1" dirty="0">
                        <a:solidFill>
                          <a:srgbClr val="FFFF00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T="45703" marB="45703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700" b="0" dirty="0">
                        <a:solidFill>
                          <a:schemeClr val="bg1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T="45703" marB="45703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1" u="none" spc="7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T="45703" marB="45703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133648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6" r:id="rId1"/>
    <p:sldLayoutId id="2147483655" r:id="rId2"/>
    <p:sldLayoutId id="2147483672" r:id="rId3"/>
  </p:sldLayoutIdLst>
  <p:hf hdr="0" ftr="0" dt="0"/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9525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333500"/>
            <a:ext cx="8229600" cy="37719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5297488"/>
            <a:ext cx="2133600" cy="30321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5297488"/>
            <a:ext cx="2895600" cy="30321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5297488"/>
            <a:ext cx="2133600" cy="30321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0E73EF2-4B26-4644-88A6-85759682C0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782672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4" r:id="rId1"/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</p:sldLayoutIdLst>
  <p:hf hdr="0" ftr="0" dt="0"/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sv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3" Type="http://schemas.openxmlformats.org/officeDocument/2006/relationships/slideLayout" Target="../slideLayouts/slideLayout2.xml"/><Relationship Id="rId7" Type="http://schemas.openxmlformats.org/officeDocument/2006/relationships/image" Target="../media/image8.png"/><Relationship Id="rId2" Type="http://schemas.openxmlformats.org/officeDocument/2006/relationships/tags" Target="../tags/tag2.xml"/><Relationship Id="rId1" Type="http://schemas.openxmlformats.org/officeDocument/2006/relationships/tags" Target="../tags/tag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tags" Target="../tags/tag10.xml"/><Relationship Id="rId13" Type="http://schemas.openxmlformats.org/officeDocument/2006/relationships/image" Target="../media/image10.jpg"/><Relationship Id="rId3" Type="http://schemas.openxmlformats.org/officeDocument/2006/relationships/tags" Target="../tags/tag5.xml"/><Relationship Id="rId7" Type="http://schemas.openxmlformats.org/officeDocument/2006/relationships/tags" Target="../tags/tag9.xml"/><Relationship Id="rId12" Type="http://schemas.openxmlformats.org/officeDocument/2006/relationships/notesSlide" Target="../notesSlides/notesSlide3.xml"/><Relationship Id="rId2" Type="http://schemas.openxmlformats.org/officeDocument/2006/relationships/tags" Target="../tags/tag4.xml"/><Relationship Id="rId1" Type="http://schemas.openxmlformats.org/officeDocument/2006/relationships/tags" Target="../tags/tag3.xml"/><Relationship Id="rId6" Type="http://schemas.openxmlformats.org/officeDocument/2006/relationships/tags" Target="../tags/tag8.xml"/><Relationship Id="rId11" Type="http://schemas.openxmlformats.org/officeDocument/2006/relationships/slideLayout" Target="../slideLayouts/slideLayout2.xml"/><Relationship Id="rId5" Type="http://schemas.openxmlformats.org/officeDocument/2006/relationships/tags" Target="../tags/tag7.xml"/><Relationship Id="rId15" Type="http://schemas.openxmlformats.org/officeDocument/2006/relationships/image" Target="../media/image9.svg"/><Relationship Id="rId10" Type="http://schemas.openxmlformats.org/officeDocument/2006/relationships/tags" Target="../tags/tag12.xml"/><Relationship Id="rId4" Type="http://schemas.openxmlformats.org/officeDocument/2006/relationships/tags" Target="../tags/tag6.xml"/><Relationship Id="rId9" Type="http://schemas.openxmlformats.org/officeDocument/2006/relationships/tags" Target="../tags/tag11.xml"/><Relationship Id="rId14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77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54346153"/>
              </p:ext>
            </p:extLst>
          </p:nvPr>
        </p:nvGraphicFramePr>
        <p:xfrm>
          <a:off x="683569" y="985292"/>
          <a:ext cx="7776864" cy="16747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7686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674776">
                <a:tc>
                  <a:txBody>
                    <a:bodyPr/>
                    <a:lstStyle/>
                    <a:p>
                      <a:pPr marL="0" marR="0" indent="0" algn="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1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5" name="Group 15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26144467"/>
              </p:ext>
            </p:extLst>
          </p:nvPr>
        </p:nvGraphicFramePr>
        <p:xfrm>
          <a:off x="3185639" y="3433564"/>
          <a:ext cx="2819849" cy="1196975"/>
        </p:xfrm>
        <a:graphic>
          <a:graphicData uri="http://schemas.openxmlformats.org/drawingml/2006/table">
            <a:tbl>
              <a:tblPr/>
              <a:tblGrid>
                <a:gridCol w="208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7052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7052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7052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100"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9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  <a:cs typeface="Times New Roman" pitchFamily="18" charset="0"/>
                        </a:rPr>
                        <a:t>그린컴퓨터 </a:t>
                      </a:r>
                      <a:r>
                        <a:rPr kumimoji="1" lang="ko-KR" altLang="en-US" sz="9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  <a:cs typeface="Times New Roman" pitchFamily="18" charset="0"/>
                        </a:rPr>
                        <a:t>노원점</a:t>
                      </a:r>
                      <a:endParaRPr kumimoji="1" lang="ko-KR" altLang="en-US" sz="9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  <a:cs typeface="Times New Roman" pitchFamily="18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9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맑은 고딕" pitchFamily="50" charset="-127"/>
                        <a:ea typeface="맑은 고딕" pitchFamily="50" charset="-127"/>
                        <a:cs typeface="Times New Roman" pitchFamily="18" charset="0"/>
                      </a:endParaRPr>
                    </a:p>
                  </a:txBody>
                  <a:tcPr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5750"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9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  <a:cs typeface="Times New Roman" pitchFamily="18" charset="0"/>
                        </a:rPr>
                        <a:t>확</a:t>
                      </a:r>
                      <a:endParaRPr kumimoji="1" lang="en-US" altLang="ko-KR" sz="9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  <a:cs typeface="Times New Roman" pitchFamily="18" charset="0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9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  <a:cs typeface="Times New Roman" pitchFamily="18" charset="0"/>
                        </a:rPr>
                        <a:t>인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9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  <a:cs typeface="Times New Roman" pitchFamily="18" charset="0"/>
                        </a:rPr>
                        <a:t>작성자</a:t>
                      </a:r>
                    </a:p>
                  </a:txBody>
                  <a:tcPr anchor="ctr" horzOverflow="overflow"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9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  <a:cs typeface="Times New Roman" pitchFamily="18" charset="0"/>
                        </a:rPr>
                        <a:t>검수</a:t>
                      </a:r>
                    </a:p>
                  </a:txBody>
                  <a:tcPr anchor="ctr" horzOverflow="overflow"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9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  <a:cs typeface="Times New Roman" pitchFamily="18" charset="0"/>
                        </a:rPr>
                        <a:t>최종 승인 자</a:t>
                      </a:r>
                    </a:p>
                  </a:txBody>
                  <a:tcPr anchor="ctr" horzOverflow="overflow"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912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2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9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김라혜</a:t>
                      </a:r>
                      <a:endParaRPr kumimoji="1" lang="ko-KR" altLang="ko-KR" sz="9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anchor="ctr" horzOverflow="overflow"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2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9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유승준</a:t>
                      </a:r>
                      <a:endParaRPr kumimoji="1" lang="ko-KR" altLang="ko-KR" sz="9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anchor="ctr" horzOverflow="overflow"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2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9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홍희경</a:t>
                      </a:r>
                      <a:endParaRPr kumimoji="1" lang="ko-KR" altLang="ko-KR" sz="9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anchor="ctr" horzOverflow="overflow"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6" name="제목 3"/>
          <p:cNvSpPr txBox="1">
            <a:spLocks/>
          </p:cNvSpPr>
          <p:nvPr/>
        </p:nvSpPr>
        <p:spPr>
          <a:xfrm>
            <a:off x="179513" y="1294731"/>
            <a:ext cx="8784975" cy="487448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sz="1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도서 </a:t>
            </a:r>
            <a:r>
              <a:rPr lang="ko-KR" altLang="en-US" sz="1800" b="1" dirty="0" err="1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겁색</a:t>
            </a:r>
            <a:r>
              <a:rPr lang="ko-KR" altLang="en-US" sz="1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웹 </a:t>
            </a:r>
            <a:r>
              <a:rPr lang="en-US" altLang="ko-KR" sz="1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SB</a:t>
            </a:r>
            <a:endParaRPr lang="ko-KR" altLang="en-US" sz="1800" b="1" dirty="0">
              <a:solidFill>
                <a:schemeClr val="bg1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7" name="제목 3"/>
          <p:cNvSpPr txBox="1">
            <a:spLocks/>
          </p:cNvSpPr>
          <p:nvPr/>
        </p:nvSpPr>
        <p:spPr>
          <a:xfrm>
            <a:off x="179512" y="1977399"/>
            <a:ext cx="8784975" cy="487448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ko-KR" sz="1050" dirty="0">
                <a:solidFill>
                  <a:schemeClr val="bg1"/>
                </a:solidFill>
                <a:latin typeface="+mn-ea"/>
                <a:ea typeface="+mn-ea"/>
              </a:rPr>
              <a:t>2026-08-05</a:t>
            </a:r>
            <a:endParaRPr lang="ko-KR" altLang="en-US" sz="1050" dirty="0">
              <a:solidFill>
                <a:schemeClr val="bg1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8" name="제목 3"/>
          <p:cNvSpPr txBox="1">
            <a:spLocks/>
          </p:cNvSpPr>
          <p:nvPr/>
        </p:nvSpPr>
        <p:spPr>
          <a:xfrm>
            <a:off x="611559" y="2641476"/>
            <a:ext cx="7920881" cy="36004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n-US" altLang="ko-KR" sz="9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Ver. 1.0</a:t>
            </a:r>
            <a:endParaRPr lang="ko-KR" altLang="en-US" sz="900" dirty="0">
              <a:solidFill>
                <a:schemeClr val="bg1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127464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97671177"/>
              </p:ext>
            </p:extLst>
          </p:nvPr>
        </p:nvGraphicFramePr>
        <p:xfrm>
          <a:off x="275731" y="675489"/>
          <a:ext cx="8592538" cy="3377178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7588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805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303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95235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7055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4122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70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L="68352" marR="68352" marT="34176" marB="34176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700" dirty="0">
                          <a:solidFill>
                            <a:schemeClr val="tx1"/>
                          </a:solidFill>
                        </a:rPr>
                        <a:t>변경일자</a:t>
                      </a:r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dirty="0">
                          <a:solidFill>
                            <a:schemeClr val="tx1"/>
                          </a:solidFill>
                        </a:rPr>
                        <a:t>page</a:t>
                      </a:r>
                      <a:endParaRPr lang="ko-KR" altLang="en-US" sz="700" dirty="0">
                        <a:solidFill>
                          <a:schemeClr val="tx1"/>
                        </a:solidFill>
                      </a:endParaRPr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700" dirty="0">
                          <a:solidFill>
                            <a:schemeClr val="tx1"/>
                          </a:solidFill>
                        </a:rPr>
                        <a:t>내                            용</a:t>
                      </a:r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7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122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dirty="0"/>
                        <a:t>v.0.1</a:t>
                      </a:r>
                      <a:endParaRPr lang="ko-KR" altLang="en-US" sz="700" dirty="0"/>
                    </a:p>
                  </a:txBody>
                  <a:tcPr marL="68352" marR="68352" marT="34176" marB="34176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dirty="0"/>
                        <a:t>2026-08-05</a:t>
                      </a:r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dirty="0"/>
                        <a:t>-</a:t>
                      </a:r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700" dirty="0"/>
                        <a:t>최초작성</a:t>
                      </a:r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700" dirty="0" err="1"/>
                        <a:t>김라혜</a:t>
                      </a:r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1227"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1227"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1227"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1227"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1227"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1227"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1227"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1227"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41227"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41227"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en-US" altLang="ko-KR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41227"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41227"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20677" y="265212"/>
            <a:ext cx="110370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문서이력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8A7811D-B585-4DB2-A71F-7454EDE8B0F9}"/>
              </a:ext>
            </a:extLst>
          </p:cNvPr>
          <p:cNvSpPr txBox="1"/>
          <p:nvPr/>
        </p:nvSpPr>
        <p:spPr>
          <a:xfrm>
            <a:off x="264479" y="4548857"/>
            <a:ext cx="152657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문서이력</a:t>
            </a:r>
            <a:endParaRPr lang="en-US" altLang="ko-KR" sz="1400" dirty="0">
              <a:solidFill>
                <a:schemeClr val="bg1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347E9790-026E-4A7B-8BC1-2BB7D23D91FC}"/>
              </a:ext>
            </a:extLst>
          </p:cNvPr>
          <p:cNvSpPr/>
          <p:nvPr/>
        </p:nvSpPr>
        <p:spPr>
          <a:xfrm>
            <a:off x="1403648" y="4563218"/>
            <a:ext cx="6834472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|   </a:t>
            </a:r>
            <a:r>
              <a:rPr lang="ko-KR" altLang="en-US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이 문서의 버전정보를 확인할 수 있는 문서</a:t>
            </a:r>
            <a:endParaRPr lang="en-US" altLang="ko-KR" sz="800" b="1" dirty="0">
              <a:solidFill>
                <a:schemeClr val="bg1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B9B64829-8A32-44D6-84E4-74E6E4A40D9D}"/>
              </a:ext>
            </a:extLst>
          </p:cNvPr>
          <p:cNvSpPr/>
          <p:nvPr/>
        </p:nvSpPr>
        <p:spPr>
          <a:xfrm>
            <a:off x="257370" y="4867392"/>
            <a:ext cx="8563102" cy="5582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기획문서는 최초 작성 후 작성 시와 달라지는 여러 이해당사자의 필요나 개발 환경에 따라 </a:t>
            </a:r>
            <a:r>
              <a: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수정이 여러 </a:t>
            </a:r>
            <a:r>
              <a:rPr lang="ko-KR" altLang="en-US" sz="700" b="1" dirty="0" err="1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차레</a:t>
            </a:r>
            <a:r>
              <a: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발생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할 수 있습니다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기획 문서는 디자인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, 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개발 완료까지 작업을 진행하는 작업자와 관리자까지 최종 결과물에 대한 기초자료가 되기 때문에 수정된 정보 에 대한 관리가 되지 않으면 최종 결과물이 원하는 방향대로 나오지 않을 수 있습니다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정해진 양식은 없지만 일반적으로 </a:t>
            </a:r>
            <a:r>
              <a: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버전 별 변경일자</a:t>
            </a:r>
            <a:r>
              <a:rPr lang="en-US" altLang="ko-KR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, </a:t>
            </a:r>
            <a:r>
              <a: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수정된 페이지와 수정 내용을 작성하고 최종 버전을 공유합니다</a:t>
            </a:r>
            <a:r>
              <a:rPr lang="en-US" altLang="ko-KR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</a:t>
            </a:r>
            <a:r>
              <a: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</a:t>
            </a:r>
          </a:p>
        </p:txBody>
      </p:sp>
      <p:pic>
        <p:nvPicPr>
          <p:cNvPr id="18" name="그래픽 17">
            <a:extLst>
              <a:ext uri="{FF2B5EF4-FFF2-40B4-BE49-F238E27FC236}">
                <a16:creationId xmlns:a16="http://schemas.microsoft.com/office/drawing/2014/main" id="{54FBBEFD-86F7-4840-8043-6464AE9DC1C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14800" y="4624064"/>
            <a:ext cx="209583" cy="2164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48195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10D22AEF-7B1F-409B-B38B-19B7ED52011A}"/>
              </a:ext>
            </a:extLst>
          </p:cNvPr>
          <p:cNvSpPr txBox="1"/>
          <p:nvPr/>
        </p:nvSpPr>
        <p:spPr>
          <a:xfrm>
            <a:off x="220677" y="265212"/>
            <a:ext cx="28033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>
                <a:latin typeface="나눔고딕" panose="020D0604000000000000" pitchFamily="50" charset="-127"/>
                <a:ea typeface="나눔고딕" panose="020D0604000000000000" pitchFamily="50" charset="-127"/>
              </a:rPr>
              <a:t>도서검색웹</a:t>
            </a:r>
            <a:r>
              <a:rPr lang="ko-KR" altLang="en-US" sz="16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 서비스 개요</a:t>
            </a:r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B56E816E-84AA-4414-80AD-9092A30C845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75993006"/>
              </p:ext>
            </p:extLst>
          </p:nvPr>
        </p:nvGraphicFramePr>
        <p:xfrm>
          <a:off x="275731" y="672900"/>
          <a:ext cx="8592538" cy="4339268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183979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7527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549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</a:rPr>
                        <a:t>구분</a:t>
                      </a:r>
                    </a:p>
                  </a:txBody>
                  <a:tcPr marL="68352" marR="68352" marT="34176" marB="34176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</a:rPr>
                        <a:t>내용</a:t>
                      </a:r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630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/>
                        <a:t>기획 서비스</a:t>
                      </a:r>
                      <a:endParaRPr lang="en-US" altLang="ko-KR" sz="800" b="1" dirty="0"/>
                    </a:p>
                  </a:txBody>
                  <a:tcPr marL="68352" marR="68352" marT="34176" marB="34176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marR="0" indent="-171450" algn="just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교육 출판 및 도서 정보 제공 플랫폼 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‘</a:t>
                      </a:r>
                      <a:r>
                        <a:rPr lang="ko-KR" altLang="en-US" sz="800" dirty="0" err="1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그린스터디북스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＇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웹사이트</a:t>
                      </a:r>
                      <a:endParaRPr lang="en-US" altLang="ko-KR" sz="800" dirty="0">
                        <a:solidFill>
                          <a:schemeClr val="tx1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3654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/>
                        <a:t>기획 배경</a:t>
                      </a:r>
                      <a:endParaRPr lang="en-US" altLang="ko-KR" sz="800" b="1" dirty="0"/>
                    </a:p>
                    <a:p>
                      <a:pPr algn="ctr" latinLnBrk="1"/>
                      <a:endParaRPr lang="en-US" altLang="ko-KR" sz="800" b="1" dirty="0">
                        <a:solidFill>
                          <a:srgbClr val="FF0000"/>
                        </a:solidFill>
                      </a:endParaRPr>
                    </a:p>
                  </a:txBody>
                  <a:tcPr marL="68352" marR="68352" marT="34176" marB="34176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marR="0" indent="-171450" algn="just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초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/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중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/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고등 교육 과정 및 단행본을 아우르는 자사 출판 도서의 효과적인 홍보와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학생 및 교사들의 학습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/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교육 지원 자료에 대한 접근성을 높일 수 있는 통합 플랫폼 필요</a:t>
                      </a:r>
                      <a:endParaRPr lang="en-US" altLang="ko-KR" sz="800" dirty="0">
                        <a:solidFill>
                          <a:schemeClr val="tx1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073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/>
                        <a:t>기획 목적</a:t>
                      </a:r>
                      <a:endParaRPr lang="en-US" altLang="ko-KR" sz="800" b="1" dirty="0"/>
                    </a:p>
                  </a:txBody>
                  <a:tcPr marL="68352" marR="68352" marT="34176" marB="34176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marR="0" indent="-171450" algn="just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800" dirty="0" err="1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대상별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(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초등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/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중등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/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고등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/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단행본 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) 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직관적인 도서 탐색 환경 제공</a:t>
                      </a:r>
                      <a:endParaRPr lang="en-US" altLang="ko-KR" sz="800" dirty="0">
                        <a:solidFill>
                          <a:schemeClr val="tx1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  <a:p>
                      <a:pPr marL="171450" marR="0" indent="-171450" algn="just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학습자 및 교수자를 위한 필수 부가 자료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(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해설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듣기자료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교사용 이북 등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)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의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원활한 제공</a:t>
                      </a:r>
                      <a:endParaRPr lang="en-US" altLang="ko-KR" sz="800" dirty="0">
                        <a:solidFill>
                          <a:schemeClr val="tx1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  <a:p>
                      <a:pPr marL="171450" marR="0" indent="-171450" algn="just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맞춤 큐레이션 및 커뮤니티 연동을 통한 고객 소통 강화</a:t>
                      </a:r>
                      <a:endParaRPr lang="en-US" altLang="ko-KR" sz="800" dirty="0">
                        <a:solidFill>
                          <a:schemeClr val="tx1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3481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dirty="0"/>
                        <a:t>기대 효과</a:t>
                      </a:r>
                      <a:endParaRPr lang="en-US" altLang="ko-KR" sz="800" b="1" dirty="0"/>
                    </a:p>
                  </a:txBody>
                  <a:tcPr marL="68352" marR="68352" marT="34176" marB="34176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just" latinLnBrk="1">
                        <a:lnSpc>
                          <a:spcPct val="13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1" baseline="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고객 편의성 증대</a:t>
                      </a:r>
                      <a:r>
                        <a:rPr lang="en-US" altLang="ko-KR" sz="800" baseline="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: </a:t>
                      </a:r>
                      <a:r>
                        <a:rPr lang="ko-KR" altLang="en-US" sz="800" baseline="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검색 및 카테고리화를 통해 원하는 교재와 부가 자료를 빠르게 획득</a:t>
                      </a:r>
                      <a:endParaRPr lang="en-US" altLang="ko-KR" sz="800" baseline="0" dirty="0">
                        <a:solidFill>
                          <a:schemeClr val="tx1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  <a:p>
                      <a:pPr marL="171450" indent="-171450" algn="just" latinLnBrk="1">
                        <a:lnSpc>
                          <a:spcPct val="13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1" baseline="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브랜드 인지도 상승</a:t>
                      </a:r>
                      <a:r>
                        <a:rPr lang="en-US" altLang="ko-KR" sz="800" baseline="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: ‘</a:t>
                      </a:r>
                      <a:r>
                        <a:rPr lang="ko-KR" altLang="en-US" sz="800" baseline="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그린</a:t>
                      </a:r>
                      <a:r>
                        <a:rPr lang="en-US" altLang="ko-KR" sz="800" baseline="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pick’, </a:t>
                      </a:r>
                      <a:r>
                        <a:rPr lang="ko-KR" altLang="en-US" sz="800" baseline="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베스트 셀러</a:t>
                      </a:r>
                      <a:r>
                        <a:rPr lang="en-US" altLang="ko-KR" sz="800" baseline="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800" baseline="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유튜브 콘텐츠 연동을 통한 체류시간 증대 및 브랜드 친밀도 향상</a:t>
                      </a:r>
                      <a:endParaRPr lang="en-US" altLang="ko-KR" sz="800" baseline="0" dirty="0">
                        <a:solidFill>
                          <a:schemeClr val="tx1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  <a:p>
                      <a:pPr marL="171450" indent="-171450" algn="just" latinLnBrk="1">
                        <a:lnSpc>
                          <a:spcPct val="13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1" baseline="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교사</a:t>
                      </a:r>
                      <a:r>
                        <a:rPr lang="en-US" altLang="ko-KR" sz="800" b="1" baseline="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/</a:t>
                      </a:r>
                      <a:r>
                        <a:rPr lang="ko-KR" altLang="en-US" sz="800" b="1" baseline="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학원 고객 확보</a:t>
                      </a:r>
                      <a:r>
                        <a:rPr lang="en-US" altLang="ko-KR" sz="800" baseline="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: </a:t>
                      </a:r>
                      <a:r>
                        <a:rPr lang="ko-KR" altLang="en-US" sz="800" baseline="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전용 자료 제공 및 채택 이벤트를 통한 </a:t>
                      </a:r>
                      <a:r>
                        <a:rPr lang="en-US" altLang="ko-KR" sz="800" baseline="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B2B </a:t>
                      </a:r>
                      <a:r>
                        <a:rPr lang="ko-KR" altLang="en-US" sz="800" baseline="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충성 고객 확보</a:t>
                      </a:r>
                      <a:endParaRPr lang="en-US" altLang="ko-KR" sz="800" baseline="0" dirty="0">
                        <a:solidFill>
                          <a:schemeClr val="tx1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21158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/>
                        <a:t>주요 기능</a:t>
                      </a:r>
                    </a:p>
                  </a:txBody>
                  <a:tcPr marL="68352" marR="68352" marT="34176" marB="34176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just" latinLnBrk="1">
                        <a:lnSpc>
                          <a:spcPct val="13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1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네비게이션 및 검색</a:t>
                      </a:r>
                      <a:r>
                        <a:rPr lang="en-US" altLang="ko-KR" sz="800" b="1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: 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초등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/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중등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/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고등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/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단행본 카테고리 탭 및 통합 검색 기능</a:t>
                      </a:r>
                      <a:endParaRPr lang="en-US" altLang="ko-KR" sz="800" dirty="0">
                        <a:solidFill>
                          <a:schemeClr val="tx1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  <a:p>
                      <a:pPr marL="171450" indent="-171450" algn="just" latinLnBrk="1">
                        <a:lnSpc>
                          <a:spcPct val="13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1" dirty="0" err="1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퀵</a:t>
                      </a:r>
                      <a:r>
                        <a:rPr lang="ko-KR" altLang="en-US" sz="800" b="1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메뉴</a:t>
                      </a:r>
                      <a:r>
                        <a:rPr lang="en-US" altLang="ko-KR" sz="800" b="1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(</a:t>
                      </a:r>
                      <a:r>
                        <a:rPr lang="ko-KR" altLang="en-US" sz="800" b="1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자료실</a:t>
                      </a:r>
                      <a:r>
                        <a:rPr lang="en-US" altLang="ko-KR" sz="800" b="1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): 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정답 및 해설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정오표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듣기자료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교사용자료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교사용 이북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총판 안내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FAQ</a:t>
                      </a:r>
                    </a:p>
                    <a:p>
                      <a:pPr marL="171450" indent="-171450" algn="just" latinLnBrk="1">
                        <a:lnSpc>
                          <a:spcPct val="13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1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도서 큐레이션</a:t>
                      </a:r>
                      <a:r>
                        <a:rPr lang="en-US" altLang="ko-KR" sz="800" b="1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: 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해시태그 기반 맞춤 추천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: ‘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그린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pick’, </a:t>
                      </a:r>
                      <a:r>
                        <a:rPr lang="ko-KR" altLang="en-US" sz="800" dirty="0" err="1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타겟별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‘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베스트셀러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‘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랭킹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제공</a:t>
                      </a:r>
                      <a:endParaRPr lang="en-US" altLang="ko-KR" sz="800" dirty="0">
                        <a:solidFill>
                          <a:schemeClr val="tx1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  <a:p>
                      <a:pPr marL="171450" indent="-171450" algn="just" latinLnBrk="1">
                        <a:lnSpc>
                          <a:spcPct val="13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1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미디어 </a:t>
                      </a:r>
                      <a:r>
                        <a:rPr lang="en-US" altLang="ko-KR" sz="800" b="1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&amp; </a:t>
                      </a:r>
                      <a:r>
                        <a:rPr lang="ko-KR" altLang="en-US" sz="800" b="1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커뮤니티</a:t>
                      </a:r>
                      <a:r>
                        <a:rPr lang="en-US" altLang="ko-KR" sz="800" b="1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: 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유튜브 영상 갤러리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(</a:t>
                      </a:r>
                      <a:r>
                        <a:rPr lang="ko-KR" altLang="en-US" sz="800" dirty="0" err="1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한능검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800" dirty="0" err="1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집밥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백과 등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), 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진행 중인 이벤트 목록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공식 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SNS(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인스타그램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유튜브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블로그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/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까페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) 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링크 연동 </a:t>
                      </a:r>
                      <a:endParaRPr lang="en-US" altLang="ko-KR" sz="800" dirty="0">
                        <a:solidFill>
                          <a:schemeClr val="tx1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6378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/>
                        <a:t>주요 고객</a:t>
                      </a:r>
                    </a:p>
                  </a:txBody>
                  <a:tcPr marL="68352" marR="68352" marT="34176" marB="34176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just" latinLnBrk="1">
                        <a:lnSpc>
                          <a:spcPct val="13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dirty="0"/>
                        <a:t>초</a:t>
                      </a:r>
                      <a:r>
                        <a:rPr lang="en-US" altLang="ko-KR" sz="800" dirty="0"/>
                        <a:t>·</a:t>
                      </a:r>
                      <a:r>
                        <a:rPr lang="ko-KR" altLang="en-US" sz="800" dirty="0"/>
                        <a:t>중</a:t>
                      </a:r>
                      <a:r>
                        <a:rPr lang="en-US" altLang="ko-KR" sz="800" dirty="0"/>
                        <a:t>·</a:t>
                      </a:r>
                      <a:r>
                        <a:rPr lang="ko-KR" altLang="en-US" sz="800" dirty="0"/>
                        <a:t>고등학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생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학부모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학교 및 학원 교사 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일반 독자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(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단행본 구독자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)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683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/>
                        <a:t>서비스 채널</a:t>
                      </a:r>
                    </a:p>
                  </a:txBody>
                  <a:tcPr marL="68352" marR="68352" marT="34176" marB="34176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just" latinLnBrk="1">
                        <a:lnSpc>
                          <a:spcPct val="13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aseline="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반응형 웹사이트</a:t>
                      </a:r>
                      <a:r>
                        <a:rPr lang="en-US" altLang="ko-KR" sz="800" baseline="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( PC, </a:t>
                      </a:r>
                      <a:r>
                        <a:rPr lang="ko-KR" altLang="en-US" sz="800" baseline="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태블릿</a:t>
                      </a:r>
                      <a:r>
                        <a:rPr lang="en-US" altLang="ko-KR" sz="800" baseline="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800" baseline="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모바일</a:t>
                      </a:r>
                      <a:r>
                        <a:rPr lang="en-US" altLang="ko-KR" sz="800" baseline="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)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630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/>
                        <a:t>기타</a:t>
                      </a:r>
                      <a:r>
                        <a:rPr lang="en-US" altLang="ko-KR" sz="800" b="1" dirty="0"/>
                        <a:t>(</a:t>
                      </a:r>
                      <a:r>
                        <a:rPr lang="ko-KR" altLang="en-US" sz="800" b="1" dirty="0" err="1"/>
                        <a:t>오픈시점</a:t>
                      </a:r>
                      <a:r>
                        <a:rPr lang="ko-KR" altLang="en-US" sz="800" b="1" dirty="0"/>
                        <a:t> 등</a:t>
                      </a:r>
                      <a:r>
                        <a:rPr lang="en-US" altLang="ko-KR" sz="800" b="1" dirty="0"/>
                        <a:t>)</a:t>
                      </a:r>
                      <a:endParaRPr lang="ko-KR" altLang="en-US" sz="800" b="1" dirty="0"/>
                    </a:p>
                  </a:txBody>
                  <a:tcPr marL="68352" marR="68352" marT="34176" marB="34176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/>
                        <a:t>특이사항</a:t>
                      </a:r>
                      <a:r>
                        <a:rPr lang="en-US" altLang="ko-KR" sz="800" dirty="0"/>
                        <a:t>: ‘</a:t>
                      </a:r>
                      <a:r>
                        <a:rPr lang="ko-KR" altLang="en-US" sz="800" dirty="0"/>
                        <a:t>초등 수능 수학 </a:t>
                      </a:r>
                      <a:r>
                        <a:rPr lang="en-US" altLang="ko-KR" sz="800" dirty="0"/>
                        <a:t>KICK’, ‘</a:t>
                      </a:r>
                      <a:r>
                        <a:rPr lang="ko-KR" altLang="en-US" sz="800" dirty="0" err="1"/>
                        <a:t>뭔말</a:t>
                      </a:r>
                      <a:r>
                        <a:rPr lang="en-US" altLang="ko-KR" sz="800" dirty="0"/>
                        <a:t> </a:t>
                      </a:r>
                      <a:r>
                        <a:rPr lang="ko-KR" altLang="en-US" sz="800" dirty="0"/>
                        <a:t>과학 용어</a:t>
                      </a:r>
                      <a:r>
                        <a:rPr lang="en-US" altLang="ko-KR" sz="800" dirty="0"/>
                        <a:t>＇</a:t>
                      </a:r>
                      <a:r>
                        <a:rPr lang="ko-KR" altLang="en-US" sz="800"/>
                        <a:t>등 핵심 도서 시리즈 중심의 마케팅 전개</a:t>
                      </a:r>
                      <a:endParaRPr lang="ko-KR" altLang="en-US" sz="8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3251EEDD-28BE-4E9C-A6AE-C8F34434803B}"/>
              </a:ext>
            </a:extLst>
          </p:cNvPr>
          <p:cNvSpPr txBox="1"/>
          <p:nvPr/>
        </p:nvSpPr>
        <p:spPr>
          <a:xfrm>
            <a:off x="264479" y="4548857"/>
            <a:ext cx="152657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서비스 개요</a:t>
            </a:r>
            <a:endParaRPr lang="en-US" altLang="ko-KR" sz="1400" dirty="0">
              <a:solidFill>
                <a:schemeClr val="bg1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4D2537F6-39FA-40A2-8761-EF83310CAD8A}"/>
              </a:ext>
            </a:extLst>
          </p:cNvPr>
          <p:cNvSpPr/>
          <p:nvPr/>
        </p:nvSpPr>
        <p:spPr>
          <a:xfrm>
            <a:off x="1561209" y="4563218"/>
            <a:ext cx="6834472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| </a:t>
            </a:r>
            <a:r>
              <a:rPr lang="ko-KR" altLang="en-US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서비스에 대한 개괄적인 내용을 작성한 문서</a:t>
            </a:r>
            <a:r>
              <a:rPr lang="en-US" altLang="ko-KR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814CC866-8141-447F-BE14-655AC1743971}"/>
              </a:ext>
            </a:extLst>
          </p:cNvPr>
          <p:cNvSpPr/>
          <p:nvPr/>
        </p:nvSpPr>
        <p:spPr>
          <a:xfrm>
            <a:off x="257370" y="4867392"/>
            <a:ext cx="8563102" cy="39664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신규 서비스라면 기획서를 읽는 다양한 관계자의 이해를 돕기 위해 간단한 서비스 개요를 삽입하면 좋습니다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서비스의 배경과 목적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, 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효과를 공유하여 방향성을 전달합니다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 </a:t>
            </a:r>
          </a:p>
        </p:txBody>
      </p:sp>
      <p:pic>
        <p:nvPicPr>
          <p:cNvPr id="3" name="그래픽 2">
            <a:extLst>
              <a:ext uri="{FF2B5EF4-FFF2-40B4-BE49-F238E27FC236}">
                <a16:creationId xmlns:a16="http://schemas.microsoft.com/office/drawing/2014/main" id="{24D5021A-7779-4675-93EA-0272AA59943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324497" y="4637104"/>
            <a:ext cx="177901" cy="1440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66743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평행 사변형 55">
            <a:extLst>
              <a:ext uri="{FF2B5EF4-FFF2-40B4-BE49-F238E27FC236}">
                <a16:creationId xmlns:a16="http://schemas.microsoft.com/office/drawing/2014/main" id="{C0245C10-3468-47CC-8C09-D3624B80E46C}"/>
              </a:ext>
            </a:extLst>
          </p:cNvPr>
          <p:cNvSpPr/>
          <p:nvPr/>
        </p:nvSpPr>
        <p:spPr>
          <a:xfrm>
            <a:off x="5104088" y="3201418"/>
            <a:ext cx="1325434" cy="343130"/>
          </a:xfrm>
          <a:prstGeom prst="parallelogram">
            <a:avLst/>
          </a:prstGeom>
          <a:solidFill>
            <a:schemeClr val="bg1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ko-KR" altLang="en-US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아이디</a:t>
            </a:r>
            <a:r>
              <a:rPr lang="en-US" altLang="ko-KR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/</a:t>
            </a:r>
            <a:r>
              <a:rPr lang="ko-KR" altLang="en-US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비밀번호 입력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D1798D27-856C-4ABE-AD88-3547832FE000}"/>
              </a:ext>
            </a:extLst>
          </p:cNvPr>
          <p:cNvSpPr txBox="1"/>
          <p:nvPr/>
        </p:nvSpPr>
        <p:spPr>
          <a:xfrm>
            <a:off x="-8305" y="337220"/>
            <a:ext cx="458030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클라이언트 유저 플로우</a:t>
            </a:r>
          </a:p>
        </p:txBody>
      </p:sp>
      <p:sp>
        <p:nvSpPr>
          <p:cNvPr id="58" name="모서리가 둥근 직사각형 57">
            <a:extLst>
              <a:ext uri="{FF2B5EF4-FFF2-40B4-BE49-F238E27FC236}">
                <a16:creationId xmlns:a16="http://schemas.microsoft.com/office/drawing/2014/main" id="{4C571064-81D9-41A8-AD92-C492C30DC26F}"/>
              </a:ext>
            </a:extLst>
          </p:cNvPr>
          <p:cNvSpPr/>
          <p:nvPr/>
        </p:nvSpPr>
        <p:spPr>
          <a:xfrm>
            <a:off x="815023" y="721536"/>
            <a:ext cx="849068" cy="338400"/>
          </a:xfrm>
          <a:prstGeom prst="roundRect">
            <a:avLst>
              <a:gd name="adj" fmla="val 50000"/>
            </a:avLst>
          </a:prstGeom>
          <a:solidFill>
            <a:srgbClr val="FFF2E9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ko-KR" altLang="en-US" sz="80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시작</a:t>
            </a:r>
            <a:endParaRPr lang="ko-KR" altLang="en-US" sz="1000" dirty="0">
              <a:solidFill>
                <a:srgbClr val="000000"/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</p:txBody>
      </p: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A3D26EA4-1BEC-4D52-A248-9DEED862A71D}"/>
              </a:ext>
            </a:extLst>
          </p:cNvPr>
          <p:cNvSpPr/>
          <p:nvPr/>
        </p:nvSpPr>
        <p:spPr>
          <a:xfrm>
            <a:off x="823585" y="1396994"/>
            <a:ext cx="840506" cy="338554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ko-KR" altLang="en-US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프로젝트 등록</a:t>
            </a:r>
          </a:p>
        </p:txBody>
      </p:sp>
      <p:sp>
        <p:nvSpPr>
          <p:cNvPr id="61" name="사각형: 둥근 모서리 60">
            <a:extLst>
              <a:ext uri="{FF2B5EF4-FFF2-40B4-BE49-F238E27FC236}">
                <a16:creationId xmlns:a16="http://schemas.microsoft.com/office/drawing/2014/main" id="{6F541ABC-B8DD-46A0-BD55-31C4324E4F89}"/>
              </a:ext>
            </a:extLst>
          </p:cNvPr>
          <p:cNvSpPr/>
          <p:nvPr/>
        </p:nvSpPr>
        <p:spPr>
          <a:xfrm>
            <a:off x="735923" y="1989782"/>
            <a:ext cx="1015830" cy="338554"/>
          </a:xfrm>
          <a:prstGeom prst="flowChartDecision">
            <a:avLst/>
          </a:prstGeom>
          <a:solidFill>
            <a:schemeClr val="bg1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ko-KR" altLang="en-US" sz="750" dirty="0">
                <a:solidFill>
                  <a:schemeClr val="tx1">
                    <a:lumMod val="95000"/>
                    <a:lumOff val="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계정이</a:t>
            </a:r>
            <a:endParaRPr lang="en-US" altLang="ko-KR" sz="750" dirty="0">
              <a:solidFill>
                <a:schemeClr val="tx1">
                  <a:lumMod val="95000"/>
                  <a:lumOff val="5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  <a:p>
            <a:pPr algn="ctr"/>
            <a:r>
              <a:rPr lang="ko-KR" altLang="en-US" sz="750" dirty="0">
                <a:solidFill>
                  <a:schemeClr val="tx1">
                    <a:lumMod val="95000"/>
                    <a:lumOff val="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있습니까</a:t>
            </a:r>
            <a:r>
              <a:rPr lang="en-US" altLang="ko-KR" sz="750" dirty="0">
                <a:solidFill>
                  <a:schemeClr val="tx1">
                    <a:lumMod val="95000"/>
                    <a:lumOff val="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?</a:t>
            </a:r>
            <a:endParaRPr lang="ko-KR" altLang="en-US" sz="750" dirty="0">
              <a:solidFill>
                <a:schemeClr val="tx1">
                  <a:lumMod val="95000"/>
                  <a:lumOff val="5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</p:txBody>
      </p:sp>
      <p:cxnSp>
        <p:nvCxnSpPr>
          <p:cNvPr id="62" name="직선 화살표 연결선 61">
            <a:extLst>
              <a:ext uri="{FF2B5EF4-FFF2-40B4-BE49-F238E27FC236}">
                <a16:creationId xmlns:a16="http://schemas.microsoft.com/office/drawing/2014/main" id="{5B0FD2A9-4D22-4387-957E-D0A08A936493}"/>
              </a:ext>
            </a:extLst>
          </p:cNvPr>
          <p:cNvCxnSpPr>
            <a:cxnSpLocks/>
          </p:cNvCxnSpPr>
          <p:nvPr/>
        </p:nvCxnSpPr>
        <p:spPr>
          <a:xfrm>
            <a:off x="1242411" y="1773182"/>
            <a:ext cx="2854" cy="159304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직선 화살표 연결선 62">
            <a:extLst>
              <a:ext uri="{FF2B5EF4-FFF2-40B4-BE49-F238E27FC236}">
                <a16:creationId xmlns:a16="http://schemas.microsoft.com/office/drawing/2014/main" id="{5A2F5531-EEB3-43C4-9F84-C7A4D48D989B}"/>
              </a:ext>
            </a:extLst>
          </p:cNvPr>
          <p:cNvCxnSpPr>
            <a:cxnSpLocks/>
          </p:cNvCxnSpPr>
          <p:nvPr/>
        </p:nvCxnSpPr>
        <p:spPr>
          <a:xfrm>
            <a:off x="1827294" y="2159059"/>
            <a:ext cx="261402" cy="0"/>
          </a:xfrm>
          <a:prstGeom prst="straightConnector1">
            <a:avLst/>
          </a:prstGeom>
          <a:ln>
            <a:solidFill>
              <a:srgbClr val="FF0000"/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직사각형 63">
            <a:extLst>
              <a:ext uri="{FF2B5EF4-FFF2-40B4-BE49-F238E27FC236}">
                <a16:creationId xmlns:a16="http://schemas.microsoft.com/office/drawing/2014/main" id="{5DBA1496-AB2D-4545-B4F6-BD901EA2C55F}"/>
              </a:ext>
            </a:extLst>
          </p:cNvPr>
          <p:cNvSpPr/>
          <p:nvPr/>
        </p:nvSpPr>
        <p:spPr>
          <a:xfrm>
            <a:off x="2163068" y="1983422"/>
            <a:ext cx="840506" cy="338554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ko-KR" altLang="en-US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회원가입</a:t>
            </a:r>
          </a:p>
        </p:txBody>
      </p:sp>
      <p:sp>
        <p:nvSpPr>
          <p:cNvPr id="65" name="직사각형 64">
            <a:extLst>
              <a:ext uri="{FF2B5EF4-FFF2-40B4-BE49-F238E27FC236}">
                <a16:creationId xmlns:a16="http://schemas.microsoft.com/office/drawing/2014/main" id="{32F5B678-F2CC-46B2-B2E4-700C73B56179}"/>
              </a:ext>
            </a:extLst>
          </p:cNvPr>
          <p:cNvSpPr/>
          <p:nvPr/>
        </p:nvSpPr>
        <p:spPr>
          <a:xfrm>
            <a:off x="3315162" y="1983422"/>
            <a:ext cx="967661" cy="338554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ko-KR" altLang="en-US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회원가입 정보입력</a:t>
            </a:r>
          </a:p>
        </p:txBody>
      </p:sp>
      <p:cxnSp>
        <p:nvCxnSpPr>
          <p:cNvPr id="66" name="직선 화살표 연결선 65">
            <a:extLst>
              <a:ext uri="{FF2B5EF4-FFF2-40B4-BE49-F238E27FC236}">
                <a16:creationId xmlns:a16="http://schemas.microsoft.com/office/drawing/2014/main" id="{4AE10EF0-EFF4-4B57-BB93-C11870971DA4}"/>
              </a:ext>
            </a:extLst>
          </p:cNvPr>
          <p:cNvCxnSpPr>
            <a:cxnSpLocks/>
          </p:cNvCxnSpPr>
          <p:nvPr/>
        </p:nvCxnSpPr>
        <p:spPr>
          <a:xfrm>
            <a:off x="3070066" y="2159059"/>
            <a:ext cx="178604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TextBox 66">
            <a:extLst>
              <a:ext uri="{FF2B5EF4-FFF2-40B4-BE49-F238E27FC236}">
                <a16:creationId xmlns:a16="http://schemas.microsoft.com/office/drawing/2014/main" id="{1E5A8530-79EE-4D6C-9101-FD119E2EF8FE}"/>
              </a:ext>
            </a:extLst>
          </p:cNvPr>
          <p:cNvSpPr txBox="1"/>
          <p:nvPr/>
        </p:nvSpPr>
        <p:spPr>
          <a:xfrm>
            <a:off x="1791286" y="1968033"/>
            <a:ext cx="303288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600" b="1" dirty="0">
                <a:solidFill>
                  <a:srgbClr val="FF0000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NO</a:t>
            </a:r>
            <a:endParaRPr lang="ko-KR" altLang="en-US" sz="600" b="1" dirty="0">
              <a:solidFill>
                <a:srgbClr val="FF0000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3CEB3E6C-6E2D-4BD1-8D6A-2260E4C1472B}"/>
              </a:ext>
            </a:extLst>
          </p:cNvPr>
          <p:cNvSpPr txBox="1"/>
          <p:nvPr/>
        </p:nvSpPr>
        <p:spPr>
          <a:xfrm>
            <a:off x="1287157" y="2377042"/>
            <a:ext cx="322524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600" b="1" dirty="0">
                <a:solidFill>
                  <a:srgbClr val="0078D7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YES</a:t>
            </a:r>
            <a:endParaRPr lang="ko-KR" altLang="en-US" sz="600" b="1" dirty="0">
              <a:solidFill>
                <a:srgbClr val="0078D7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cxnSp>
        <p:nvCxnSpPr>
          <p:cNvPr id="69" name="직선 화살표 연결선 68">
            <a:extLst>
              <a:ext uri="{FF2B5EF4-FFF2-40B4-BE49-F238E27FC236}">
                <a16:creationId xmlns:a16="http://schemas.microsoft.com/office/drawing/2014/main" id="{9032F5B2-C1EB-4A39-9F1F-854135E61A81}"/>
              </a:ext>
            </a:extLst>
          </p:cNvPr>
          <p:cNvCxnSpPr>
            <a:cxnSpLocks/>
          </p:cNvCxnSpPr>
          <p:nvPr/>
        </p:nvCxnSpPr>
        <p:spPr>
          <a:xfrm>
            <a:off x="1242411" y="2391540"/>
            <a:ext cx="2854" cy="159304"/>
          </a:xfrm>
          <a:prstGeom prst="straightConnector1">
            <a:avLst/>
          </a:prstGeom>
          <a:ln>
            <a:solidFill>
              <a:srgbClr val="0078D7"/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직사각형 69">
            <a:extLst>
              <a:ext uri="{FF2B5EF4-FFF2-40B4-BE49-F238E27FC236}">
                <a16:creationId xmlns:a16="http://schemas.microsoft.com/office/drawing/2014/main" id="{89CC2D7F-214E-4B0B-8ABC-11BD0A62FCD6}"/>
              </a:ext>
            </a:extLst>
          </p:cNvPr>
          <p:cNvSpPr/>
          <p:nvPr/>
        </p:nvSpPr>
        <p:spPr>
          <a:xfrm>
            <a:off x="823585" y="2616194"/>
            <a:ext cx="840506" cy="338554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ko-KR" altLang="en-US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지원자 모집</a:t>
            </a:r>
          </a:p>
        </p:txBody>
      </p:sp>
      <p:cxnSp>
        <p:nvCxnSpPr>
          <p:cNvPr id="71" name="직선 화살표 연결선 70">
            <a:extLst>
              <a:ext uri="{FF2B5EF4-FFF2-40B4-BE49-F238E27FC236}">
                <a16:creationId xmlns:a16="http://schemas.microsoft.com/office/drawing/2014/main" id="{C1253F8B-1C71-4B58-BF86-9D16259CD052}"/>
              </a:ext>
            </a:extLst>
          </p:cNvPr>
          <p:cNvCxnSpPr>
            <a:cxnSpLocks/>
          </p:cNvCxnSpPr>
          <p:nvPr/>
        </p:nvCxnSpPr>
        <p:spPr>
          <a:xfrm>
            <a:off x="3819548" y="2377042"/>
            <a:ext cx="2854" cy="159304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직사각형 71">
            <a:extLst>
              <a:ext uri="{FF2B5EF4-FFF2-40B4-BE49-F238E27FC236}">
                <a16:creationId xmlns:a16="http://schemas.microsoft.com/office/drawing/2014/main" id="{16817555-B28A-435A-AE5D-375CAAD988F6}"/>
              </a:ext>
            </a:extLst>
          </p:cNvPr>
          <p:cNvSpPr/>
          <p:nvPr/>
        </p:nvSpPr>
        <p:spPr>
          <a:xfrm>
            <a:off x="3316307" y="2606212"/>
            <a:ext cx="967661" cy="338554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ko-KR" altLang="en-US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가입완료</a:t>
            </a:r>
          </a:p>
        </p:txBody>
      </p:sp>
      <p:cxnSp>
        <p:nvCxnSpPr>
          <p:cNvPr id="73" name="직선 화살표 연결선 72">
            <a:extLst>
              <a:ext uri="{FF2B5EF4-FFF2-40B4-BE49-F238E27FC236}">
                <a16:creationId xmlns:a16="http://schemas.microsoft.com/office/drawing/2014/main" id="{BADFF599-A2F1-4343-81F9-375953B67182}"/>
              </a:ext>
            </a:extLst>
          </p:cNvPr>
          <p:cNvCxnSpPr>
            <a:cxnSpLocks/>
          </p:cNvCxnSpPr>
          <p:nvPr/>
        </p:nvCxnSpPr>
        <p:spPr>
          <a:xfrm flipH="1">
            <a:off x="1744497" y="2785471"/>
            <a:ext cx="1496916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직사각형 73">
            <a:extLst>
              <a:ext uri="{FF2B5EF4-FFF2-40B4-BE49-F238E27FC236}">
                <a16:creationId xmlns:a16="http://schemas.microsoft.com/office/drawing/2014/main" id="{8167ADC0-B21B-4B98-8893-32A4F42C8195}"/>
              </a:ext>
            </a:extLst>
          </p:cNvPr>
          <p:cNvSpPr/>
          <p:nvPr/>
        </p:nvSpPr>
        <p:spPr>
          <a:xfrm>
            <a:off x="823585" y="3202934"/>
            <a:ext cx="840506" cy="338554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ko-KR" altLang="en-US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미팅신청</a:t>
            </a:r>
          </a:p>
        </p:txBody>
      </p:sp>
      <p:cxnSp>
        <p:nvCxnSpPr>
          <p:cNvPr id="75" name="직선 화살표 연결선 74">
            <a:extLst>
              <a:ext uri="{FF2B5EF4-FFF2-40B4-BE49-F238E27FC236}">
                <a16:creationId xmlns:a16="http://schemas.microsoft.com/office/drawing/2014/main" id="{533E5E80-71B6-475A-8D64-B6453E05E45D}"/>
              </a:ext>
            </a:extLst>
          </p:cNvPr>
          <p:cNvCxnSpPr>
            <a:cxnSpLocks/>
          </p:cNvCxnSpPr>
          <p:nvPr/>
        </p:nvCxnSpPr>
        <p:spPr>
          <a:xfrm>
            <a:off x="1242411" y="3000301"/>
            <a:ext cx="2854" cy="159304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직선 화살표 연결선 75">
            <a:extLst>
              <a:ext uri="{FF2B5EF4-FFF2-40B4-BE49-F238E27FC236}">
                <a16:creationId xmlns:a16="http://schemas.microsoft.com/office/drawing/2014/main" id="{28D2397D-465C-4CBB-8180-C8ABFAEECAA4}"/>
              </a:ext>
            </a:extLst>
          </p:cNvPr>
          <p:cNvCxnSpPr>
            <a:cxnSpLocks/>
          </p:cNvCxnSpPr>
          <p:nvPr/>
        </p:nvCxnSpPr>
        <p:spPr>
          <a:xfrm>
            <a:off x="1242411" y="3579122"/>
            <a:ext cx="2854" cy="159304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사각형: 둥근 모서리 76">
            <a:extLst>
              <a:ext uri="{FF2B5EF4-FFF2-40B4-BE49-F238E27FC236}">
                <a16:creationId xmlns:a16="http://schemas.microsoft.com/office/drawing/2014/main" id="{B93D3515-2B26-4526-938A-3EF31B6C7B6B}"/>
              </a:ext>
            </a:extLst>
          </p:cNvPr>
          <p:cNvSpPr/>
          <p:nvPr/>
        </p:nvSpPr>
        <p:spPr>
          <a:xfrm>
            <a:off x="536559" y="3789674"/>
            <a:ext cx="1421436" cy="338554"/>
          </a:xfrm>
          <a:prstGeom prst="flowChartDecision">
            <a:avLst/>
          </a:prstGeom>
          <a:solidFill>
            <a:schemeClr val="bg1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ko-KR" altLang="en-US" sz="750" dirty="0">
                <a:solidFill>
                  <a:schemeClr val="tx1">
                    <a:lumMod val="95000"/>
                    <a:lumOff val="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계약대상을</a:t>
            </a:r>
            <a:endParaRPr lang="en-US" altLang="ko-KR" sz="750" dirty="0">
              <a:solidFill>
                <a:schemeClr val="tx1">
                  <a:lumMod val="95000"/>
                  <a:lumOff val="5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  <a:p>
            <a:pPr algn="ctr"/>
            <a:r>
              <a:rPr lang="ko-KR" altLang="en-US" sz="750" dirty="0">
                <a:solidFill>
                  <a:schemeClr val="tx1">
                    <a:lumMod val="95000"/>
                    <a:lumOff val="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선택하였습니까</a:t>
            </a:r>
            <a:r>
              <a:rPr lang="en-US" altLang="ko-KR" sz="750" dirty="0">
                <a:solidFill>
                  <a:schemeClr val="tx1">
                    <a:lumMod val="95000"/>
                    <a:lumOff val="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?</a:t>
            </a:r>
            <a:endParaRPr lang="ko-KR" altLang="en-US" sz="750" dirty="0">
              <a:solidFill>
                <a:schemeClr val="tx1">
                  <a:lumMod val="95000"/>
                  <a:lumOff val="5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</p:txBody>
      </p:sp>
      <p:sp>
        <p:nvSpPr>
          <p:cNvPr id="78" name="직사각형 77">
            <a:extLst>
              <a:ext uri="{FF2B5EF4-FFF2-40B4-BE49-F238E27FC236}">
                <a16:creationId xmlns:a16="http://schemas.microsoft.com/office/drawing/2014/main" id="{BD74F3AF-FEA8-4D6C-AB73-E6B431ED7C92}"/>
              </a:ext>
            </a:extLst>
          </p:cNvPr>
          <p:cNvSpPr/>
          <p:nvPr/>
        </p:nvSpPr>
        <p:spPr>
          <a:xfrm>
            <a:off x="823585" y="4397748"/>
            <a:ext cx="840506" cy="338554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ko-KR" altLang="en-US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계약서 날인</a:t>
            </a:r>
          </a:p>
        </p:txBody>
      </p:sp>
      <p:sp>
        <p:nvSpPr>
          <p:cNvPr id="79" name="모서리가 둥근 직사각형 78">
            <a:extLst>
              <a:ext uri="{FF2B5EF4-FFF2-40B4-BE49-F238E27FC236}">
                <a16:creationId xmlns:a16="http://schemas.microsoft.com/office/drawing/2014/main" id="{80F4EF49-1194-4449-A0A1-8FF494E8068F}"/>
              </a:ext>
            </a:extLst>
          </p:cNvPr>
          <p:cNvSpPr/>
          <p:nvPr/>
        </p:nvSpPr>
        <p:spPr>
          <a:xfrm>
            <a:off x="823585" y="4986118"/>
            <a:ext cx="840506" cy="338400"/>
          </a:xfrm>
          <a:prstGeom prst="roundRect">
            <a:avLst>
              <a:gd name="adj" fmla="val 50000"/>
            </a:avLst>
          </a:prstGeom>
          <a:solidFill>
            <a:srgbClr val="FFF2E9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ko-KR" altLang="en-US" sz="80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완료</a:t>
            </a:r>
            <a:endParaRPr lang="ko-KR" altLang="en-US" sz="1000" dirty="0">
              <a:solidFill>
                <a:srgbClr val="000000"/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</p:txBody>
      </p:sp>
      <p:cxnSp>
        <p:nvCxnSpPr>
          <p:cNvPr id="80" name="직선 화살표 연결선 79">
            <a:extLst>
              <a:ext uri="{FF2B5EF4-FFF2-40B4-BE49-F238E27FC236}">
                <a16:creationId xmlns:a16="http://schemas.microsoft.com/office/drawing/2014/main" id="{5E8CD1DC-58C2-46B5-85BA-70E1A0B404A4}"/>
              </a:ext>
            </a:extLst>
          </p:cNvPr>
          <p:cNvCxnSpPr>
            <a:cxnSpLocks/>
          </p:cNvCxnSpPr>
          <p:nvPr/>
        </p:nvCxnSpPr>
        <p:spPr>
          <a:xfrm>
            <a:off x="1236382" y="4800113"/>
            <a:ext cx="0" cy="144404"/>
          </a:xfrm>
          <a:prstGeom prst="straightConnector1">
            <a:avLst/>
          </a:prstGeom>
          <a:ln>
            <a:solidFill>
              <a:srgbClr val="F47710"/>
            </a:solidFill>
            <a:headEnd w="sm" len="sm"/>
            <a:tailEnd type="triangle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꺾인 연결선 51">
            <a:extLst>
              <a:ext uri="{FF2B5EF4-FFF2-40B4-BE49-F238E27FC236}">
                <a16:creationId xmlns:a16="http://schemas.microsoft.com/office/drawing/2014/main" id="{D7968543-166F-478D-BFD4-B78208D06262}"/>
              </a:ext>
            </a:extLst>
          </p:cNvPr>
          <p:cNvCxnSpPr>
            <a:cxnSpLocks/>
          </p:cNvCxnSpPr>
          <p:nvPr/>
        </p:nvCxnSpPr>
        <p:spPr>
          <a:xfrm rot="10800000">
            <a:off x="444564" y="2763669"/>
            <a:ext cx="12700" cy="1217083"/>
          </a:xfrm>
          <a:prstGeom prst="bentConnector3">
            <a:avLst>
              <a:gd name="adj1" fmla="val 1390976"/>
            </a:avLst>
          </a:prstGeom>
          <a:ln>
            <a:solidFill>
              <a:srgbClr val="FF0000"/>
            </a:solidFill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TextBox 81">
            <a:extLst>
              <a:ext uri="{FF2B5EF4-FFF2-40B4-BE49-F238E27FC236}">
                <a16:creationId xmlns:a16="http://schemas.microsoft.com/office/drawing/2014/main" id="{F7C88897-D3F6-41E7-AF44-C7949EB6E12D}"/>
              </a:ext>
            </a:extLst>
          </p:cNvPr>
          <p:cNvSpPr txBox="1"/>
          <p:nvPr/>
        </p:nvSpPr>
        <p:spPr>
          <a:xfrm>
            <a:off x="442241" y="2683156"/>
            <a:ext cx="303288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600" b="1" dirty="0">
                <a:solidFill>
                  <a:srgbClr val="FF0000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NO</a:t>
            </a:r>
            <a:endParaRPr lang="ko-KR" altLang="en-US" sz="600" b="1" dirty="0">
              <a:solidFill>
                <a:srgbClr val="FF0000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2CBA3C6A-B568-4923-98F4-C19EAC4292F8}"/>
              </a:ext>
            </a:extLst>
          </p:cNvPr>
          <p:cNvSpPr txBox="1"/>
          <p:nvPr/>
        </p:nvSpPr>
        <p:spPr>
          <a:xfrm>
            <a:off x="1287157" y="4162802"/>
            <a:ext cx="322524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600" b="1" dirty="0">
                <a:solidFill>
                  <a:srgbClr val="0078D7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YES</a:t>
            </a:r>
            <a:endParaRPr lang="ko-KR" altLang="en-US" sz="600" b="1" dirty="0">
              <a:solidFill>
                <a:srgbClr val="0078D7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cxnSp>
        <p:nvCxnSpPr>
          <p:cNvPr id="84" name="직선 화살표 연결선 83">
            <a:extLst>
              <a:ext uri="{FF2B5EF4-FFF2-40B4-BE49-F238E27FC236}">
                <a16:creationId xmlns:a16="http://schemas.microsoft.com/office/drawing/2014/main" id="{360231A5-AA22-49C6-B887-72E670AB7586}"/>
              </a:ext>
            </a:extLst>
          </p:cNvPr>
          <p:cNvCxnSpPr>
            <a:cxnSpLocks/>
          </p:cNvCxnSpPr>
          <p:nvPr/>
        </p:nvCxnSpPr>
        <p:spPr>
          <a:xfrm>
            <a:off x="1242411" y="4177300"/>
            <a:ext cx="2854" cy="159304"/>
          </a:xfrm>
          <a:prstGeom prst="straightConnector1">
            <a:avLst/>
          </a:prstGeom>
          <a:ln>
            <a:solidFill>
              <a:srgbClr val="0078D7"/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모서리가 둥근 직사각형 84">
            <a:extLst>
              <a:ext uri="{FF2B5EF4-FFF2-40B4-BE49-F238E27FC236}">
                <a16:creationId xmlns:a16="http://schemas.microsoft.com/office/drawing/2014/main" id="{8FDF1BE9-EC0C-4E73-BE0A-9EC7BB4BEFE3}"/>
              </a:ext>
            </a:extLst>
          </p:cNvPr>
          <p:cNvSpPr/>
          <p:nvPr/>
        </p:nvSpPr>
        <p:spPr>
          <a:xfrm>
            <a:off x="5338182" y="721536"/>
            <a:ext cx="849068" cy="338400"/>
          </a:xfrm>
          <a:prstGeom prst="roundRect">
            <a:avLst>
              <a:gd name="adj" fmla="val 50000"/>
            </a:avLst>
          </a:prstGeom>
          <a:solidFill>
            <a:srgbClr val="FFF2E9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ko-KR" altLang="en-US" sz="80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시작</a:t>
            </a:r>
            <a:endParaRPr lang="ko-KR" altLang="en-US" sz="1000" dirty="0">
              <a:solidFill>
                <a:srgbClr val="000000"/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</p:txBody>
      </p:sp>
      <p:sp>
        <p:nvSpPr>
          <p:cNvPr id="86" name="직사각형 85">
            <a:extLst>
              <a:ext uri="{FF2B5EF4-FFF2-40B4-BE49-F238E27FC236}">
                <a16:creationId xmlns:a16="http://schemas.microsoft.com/office/drawing/2014/main" id="{5B65ADE7-6BC0-4662-A42C-2CFEB6F02973}"/>
              </a:ext>
            </a:extLst>
          </p:cNvPr>
          <p:cNvSpPr/>
          <p:nvPr/>
        </p:nvSpPr>
        <p:spPr>
          <a:xfrm>
            <a:off x="5198059" y="1396994"/>
            <a:ext cx="1137876" cy="338554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ko-KR" altLang="en-US" sz="750" dirty="0" err="1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프리모아</a:t>
            </a:r>
            <a:r>
              <a:rPr lang="ko-KR" altLang="en-US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 웹사이트접속</a:t>
            </a:r>
          </a:p>
        </p:txBody>
      </p:sp>
      <p:sp>
        <p:nvSpPr>
          <p:cNvPr id="88" name="사각형: 둥근 모서리 87">
            <a:extLst>
              <a:ext uri="{FF2B5EF4-FFF2-40B4-BE49-F238E27FC236}">
                <a16:creationId xmlns:a16="http://schemas.microsoft.com/office/drawing/2014/main" id="{F7F1716E-9151-495B-B433-27D97257FF5C}"/>
              </a:ext>
            </a:extLst>
          </p:cNvPr>
          <p:cNvSpPr/>
          <p:nvPr/>
        </p:nvSpPr>
        <p:spPr>
          <a:xfrm>
            <a:off x="5259082" y="1989782"/>
            <a:ext cx="1015830" cy="338554"/>
          </a:xfrm>
          <a:prstGeom prst="flowChartDecision">
            <a:avLst/>
          </a:prstGeom>
          <a:solidFill>
            <a:schemeClr val="bg1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ko-KR" altLang="en-US" sz="750" dirty="0">
                <a:solidFill>
                  <a:schemeClr val="tx1">
                    <a:lumMod val="95000"/>
                    <a:lumOff val="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계정이 있습니까</a:t>
            </a:r>
            <a:r>
              <a:rPr lang="en-US" altLang="ko-KR" sz="750" dirty="0">
                <a:solidFill>
                  <a:schemeClr val="tx1">
                    <a:lumMod val="95000"/>
                    <a:lumOff val="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?</a:t>
            </a:r>
            <a:endParaRPr lang="ko-KR" altLang="en-US" sz="750" dirty="0">
              <a:solidFill>
                <a:schemeClr val="tx1">
                  <a:lumMod val="95000"/>
                  <a:lumOff val="5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</p:txBody>
      </p:sp>
      <p:cxnSp>
        <p:nvCxnSpPr>
          <p:cNvPr id="89" name="직선 화살표 연결선 88">
            <a:extLst>
              <a:ext uri="{FF2B5EF4-FFF2-40B4-BE49-F238E27FC236}">
                <a16:creationId xmlns:a16="http://schemas.microsoft.com/office/drawing/2014/main" id="{A3D0C245-3E1C-432B-B180-05D0E8EF92B5}"/>
              </a:ext>
            </a:extLst>
          </p:cNvPr>
          <p:cNvCxnSpPr>
            <a:cxnSpLocks/>
          </p:cNvCxnSpPr>
          <p:nvPr/>
        </p:nvCxnSpPr>
        <p:spPr>
          <a:xfrm>
            <a:off x="5765570" y="1773182"/>
            <a:ext cx="2854" cy="159304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직선 화살표 연결선 89">
            <a:extLst>
              <a:ext uri="{FF2B5EF4-FFF2-40B4-BE49-F238E27FC236}">
                <a16:creationId xmlns:a16="http://schemas.microsoft.com/office/drawing/2014/main" id="{9D09828B-6410-4B49-975A-1E4F8F322258}"/>
              </a:ext>
            </a:extLst>
          </p:cNvPr>
          <p:cNvCxnSpPr>
            <a:cxnSpLocks/>
          </p:cNvCxnSpPr>
          <p:nvPr/>
        </p:nvCxnSpPr>
        <p:spPr>
          <a:xfrm>
            <a:off x="6350453" y="2159059"/>
            <a:ext cx="261402" cy="0"/>
          </a:xfrm>
          <a:prstGeom prst="straightConnector1">
            <a:avLst/>
          </a:prstGeom>
          <a:ln>
            <a:solidFill>
              <a:srgbClr val="FF0000"/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직사각형 90">
            <a:extLst>
              <a:ext uri="{FF2B5EF4-FFF2-40B4-BE49-F238E27FC236}">
                <a16:creationId xmlns:a16="http://schemas.microsoft.com/office/drawing/2014/main" id="{9D1FA220-2AC7-488E-92FD-AAB727F9E0F0}"/>
              </a:ext>
            </a:extLst>
          </p:cNvPr>
          <p:cNvSpPr/>
          <p:nvPr/>
        </p:nvSpPr>
        <p:spPr>
          <a:xfrm>
            <a:off x="6686227" y="1983422"/>
            <a:ext cx="840506" cy="338554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ko-KR" altLang="en-US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회원가입</a:t>
            </a:r>
          </a:p>
        </p:txBody>
      </p:sp>
      <p:sp>
        <p:nvSpPr>
          <p:cNvPr id="92" name="직사각형 91">
            <a:extLst>
              <a:ext uri="{FF2B5EF4-FFF2-40B4-BE49-F238E27FC236}">
                <a16:creationId xmlns:a16="http://schemas.microsoft.com/office/drawing/2014/main" id="{F0A341A0-5E89-461A-B7DE-58F26DF8B530}"/>
              </a:ext>
            </a:extLst>
          </p:cNvPr>
          <p:cNvSpPr/>
          <p:nvPr/>
        </p:nvSpPr>
        <p:spPr>
          <a:xfrm>
            <a:off x="7838321" y="1983422"/>
            <a:ext cx="967661" cy="338554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ko-KR" altLang="en-US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회원가입 정보입력</a:t>
            </a:r>
          </a:p>
        </p:txBody>
      </p:sp>
      <p:cxnSp>
        <p:nvCxnSpPr>
          <p:cNvPr id="93" name="직선 화살표 연결선 92">
            <a:extLst>
              <a:ext uri="{FF2B5EF4-FFF2-40B4-BE49-F238E27FC236}">
                <a16:creationId xmlns:a16="http://schemas.microsoft.com/office/drawing/2014/main" id="{88C5D7D0-C7D1-4535-9D94-B521F467159D}"/>
              </a:ext>
            </a:extLst>
          </p:cNvPr>
          <p:cNvCxnSpPr>
            <a:cxnSpLocks/>
          </p:cNvCxnSpPr>
          <p:nvPr/>
        </p:nvCxnSpPr>
        <p:spPr>
          <a:xfrm>
            <a:off x="7593225" y="2159059"/>
            <a:ext cx="178604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4" name="TextBox 93">
            <a:extLst>
              <a:ext uri="{FF2B5EF4-FFF2-40B4-BE49-F238E27FC236}">
                <a16:creationId xmlns:a16="http://schemas.microsoft.com/office/drawing/2014/main" id="{5F361EB6-C4C7-4890-80D3-32920BD1A110}"/>
              </a:ext>
            </a:extLst>
          </p:cNvPr>
          <p:cNvSpPr txBox="1"/>
          <p:nvPr/>
        </p:nvSpPr>
        <p:spPr>
          <a:xfrm>
            <a:off x="6314445" y="1968033"/>
            <a:ext cx="303288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600" b="1" dirty="0">
                <a:solidFill>
                  <a:srgbClr val="FF0000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NO</a:t>
            </a:r>
            <a:endParaRPr lang="ko-KR" altLang="en-US" sz="600" b="1" dirty="0">
              <a:solidFill>
                <a:srgbClr val="FF0000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689A4301-0E27-40A9-9B2E-ED3B8A767A2F}"/>
              </a:ext>
            </a:extLst>
          </p:cNvPr>
          <p:cNvSpPr txBox="1"/>
          <p:nvPr/>
        </p:nvSpPr>
        <p:spPr>
          <a:xfrm>
            <a:off x="5810316" y="2377042"/>
            <a:ext cx="322524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600" b="1" dirty="0">
                <a:solidFill>
                  <a:srgbClr val="0078D7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YES</a:t>
            </a:r>
            <a:endParaRPr lang="ko-KR" altLang="en-US" sz="600" b="1" dirty="0">
              <a:solidFill>
                <a:srgbClr val="0078D7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cxnSp>
        <p:nvCxnSpPr>
          <p:cNvPr id="96" name="직선 화살표 연결선 95">
            <a:extLst>
              <a:ext uri="{FF2B5EF4-FFF2-40B4-BE49-F238E27FC236}">
                <a16:creationId xmlns:a16="http://schemas.microsoft.com/office/drawing/2014/main" id="{B94AFE8D-FA9D-4568-8D06-3E02FBB79BC5}"/>
              </a:ext>
            </a:extLst>
          </p:cNvPr>
          <p:cNvCxnSpPr>
            <a:cxnSpLocks/>
          </p:cNvCxnSpPr>
          <p:nvPr/>
        </p:nvCxnSpPr>
        <p:spPr>
          <a:xfrm>
            <a:off x="5765570" y="2391540"/>
            <a:ext cx="2854" cy="159304"/>
          </a:xfrm>
          <a:prstGeom prst="straightConnector1">
            <a:avLst/>
          </a:prstGeom>
          <a:ln>
            <a:solidFill>
              <a:srgbClr val="0078D7"/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직사각형 96">
            <a:extLst>
              <a:ext uri="{FF2B5EF4-FFF2-40B4-BE49-F238E27FC236}">
                <a16:creationId xmlns:a16="http://schemas.microsoft.com/office/drawing/2014/main" id="{59C6B0BE-0DF4-4F39-8223-38DF9B4ADFB5}"/>
              </a:ext>
            </a:extLst>
          </p:cNvPr>
          <p:cNvSpPr/>
          <p:nvPr/>
        </p:nvSpPr>
        <p:spPr>
          <a:xfrm>
            <a:off x="5346744" y="2616194"/>
            <a:ext cx="840506" cy="338554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ko-KR" altLang="en-US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로그인</a:t>
            </a:r>
          </a:p>
        </p:txBody>
      </p:sp>
      <p:cxnSp>
        <p:nvCxnSpPr>
          <p:cNvPr id="98" name="직선 화살표 연결선 97">
            <a:extLst>
              <a:ext uri="{FF2B5EF4-FFF2-40B4-BE49-F238E27FC236}">
                <a16:creationId xmlns:a16="http://schemas.microsoft.com/office/drawing/2014/main" id="{283D2AEF-3863-4DF2-B232-0C9F93DCFD37}"/>
              </a:ext>
            </a:extLst>
          </p:cNvPr>
          <p:cNvCxnSpPr>
            <a:cxnSpLocks/>
          </p:cNvCxnSpPr>
          <p:nvPr/>
        </p:nvCxnSpPr>
        <p:spPr>
          <a:xfrm>
            <a:off x="8342707" y="2550844"/>
            <a:ext cx="0" cy="160371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9" name="직사각형 98">
            <a:extLst>
              <a:ext uri="{FF2B5EF4-FFF2-40B4-BE49-F238E27FC236}">
                <a16:creationId xmlns:a16="http://schemas.microsoft.com/office/drawing/2014/main" id="{7A8B0EAE-A922-43A6-8E61-270FA74A1BBD}"/>
              </a:ext>
            </a:extLst>
          </p:cNvPr>
          <p:cNvSpPr/>
          <p:nvPr/>
        </p:nvSpPr>
        <p:spPr>
          <a:xfrm>
            <a:off x="7839466" y="4394562"/>
            <a:ext cx="967661" cy="338554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ko-KR" altLang="en-US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가입완료</a:t>
            </a:r>
          </a:p>
        </p:txBody>
      </p:sp>
      <p:cxnSp>
        <p:nvCxnSpPr>
          <p:cNvPr id="100" name="직선 화살표 연결선 99">
            <a:extLst>
              <a:ext uri="{FF2B5EF4-FFF2-40B4-BE49-F238E27FC236}">
                <a16:creationId xmlns:a16="http://schemas.microsoft.com/office/drawing/2014/main" id="{6170BAEC-C5EE-4511-9E46-74AA6FA301B1}"/>
              </a:ext>
            </a:extLst>
          </p:cNvPr>
          <p:cNvCxnSpPr>
            <a:cxnSpLocks/>
          </p:cNvCxnSpPr>
          <p:nvPr/>
        </p:nvCxnSpPr>
        <p:spPr>
          <a:xfrm flipH="1">
            <a:off x="6335935" y="4573821"/>
            <a:ext cx="1325569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직선 화살표 연결선 100">
            <a:extLst>
              <a:ext uri="{FF2B5EF4-FFF2-40B4-BE49-F238E27FC236}">
                <a16:creationId xmlns:a16="http://schemas.microsoft.com/office/drawing/2014/main" id="{4A9733C0-A759-4CA7-A5DE-98AAFF7B3D69}"/>
              </a:ext>
            </a:extLst>
          </p:cNvPr>
          <p:cNvCxnSpPr>
            <a:cxnSpLocks/>
          </p:cNvCxnSpPr>
          <p:nvPr/>
        </p:nvCxnSpPr>
        <p:spPr>
          <a:xfrm>
            <a:off x="5765570" y="3000301"/>
            <a:ext cx="2854" cy="159304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직선 화살표 연결선 101">
            <a:extLst>
              <a:ext uri="{FF2B5EF4-FFF2-40B4-BE49-F238E27FC236}">
                <a16:creationId xmlns:a16="http://schemas.microsoft.com/office/drawing/2014/main" id="{D3453D9A-E108-45ED-9350-8142703E610A}"/>
              </a:ext>
            </a:extLst>
          </p:cNvPr>
          <p:cNvCxnSpPr>
            <a:cxnSpLocks/>
          </p:cNvCxnSpPr>
          <p:nvPr/>
        </p:nvCxnSpPr>
        <p:spPr>
          <a:xfrm>
            <a:off x="5765570" y="3579122"/>
            <a:ext cx="2854" cy="159304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사각형: 둥근 모서리 102">
            <a:extLst>
              <a:ext uri="{FF2B5EF4-FFF2-40B4-BE49-F238E27FC236}">
                <a16:creationId xmlns:a16="http://schemas.microsoft.com/office/drawing/2014/main" id="{CD6BC275-567E-4FF6-B8F8-9854F4D76E8A}"/>
              </a:ext>
            </a:extLst>
          </p:cNvPr>
          <p:cNvSpPr/>
          <p:nvPr/>
        </p:nvSpPr>
        <p:spPr>
          <a:xfrm>
            <a:off x="5027397" y="3789674"/>
            <a:ext cx="1479200" cy="338554"/>
          </a:xfrm>
          <a:prstGeom prst="flowChartDecision">
            <a:avLst/>
          </a:prstGeom>
          <a:solidFill>
            <a:schemeClr val="bg1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ko-KR" altLang="en-US" sz="750" dirty="0">
                <a:solidFill>
                  <a:schemeClr val="tx1">
                    <a:lumMod val="95000"/>
                    <a:lumOff val="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아이디</a:t>
            </a:r>
            <a:r>
              <a:rPr lang="en-US" altLang="ko-KR" sz="750" dirty="0">
                <a:solidFill>
                  <a:schemeClr val="tx1">
                    <a:lumMod val="95000"/>
                    <a:lumOff val="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/</a:t>
            </a:r>
            <a:r>
              <a:rPr lang="ko-KR" altLang="en-US" sz="750" dirty="0">
                <a:solidFill>
                  <a:schemeClr val="tx1">
                    <a:lumMod val="95000"/>
                    <a:lumOff val="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비밀번호</a:t>
            </a:r>
            <a:endParaRPr lang="en-US" altLang="ko-KR" sz="750" dirty="0">
              <a:solidFill>
                <a:schemeClr val="tx1">
                  <a:lumMod val="95000"/>
                  <a:lumOff val="5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  <a:p>
            <a:pPr algn="ctr"/>
            <a:r>
              <a:rPr lang="ko-KR" altLang="en-US" sz="750" dirty="0">
                <a:solidFill>
                  <a:schemeClr val="tx1">
                    <a:lumMod val="95000"/>
                    <a:lumOff val="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확인</a:t>
            </a:r>
          </a:p>
        </p:txBody>
      </p:sp>
      <p:sp>
        <p:nvSpPr>
          <p:cNvPr id="104" name="직사각형 103">
            <a:extLst>
              <a:ext uri="{FF2B5EF4-FFF2-40B4-BE49-F238E27FC236}">
                <a16:creationId xmlns:a16="http://schemas.microsoft.com/office/drawing/2014/main" id="{8BA99EDD-6CEE-4FD7-84D8-BDDA7EB73F96}"/>
              </a:ext>
            </a:extLst>
          </p:cNvPr>
          <p:cNvSpPr/>
          <p:nvPr/>
        </p:nvSpPr>
        <p:spPr>
          <a:xfrm>
            <a:off x="5346744" y="4397748"/>
            <a:ext cx="840506" cy="338554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ko-KR" altLang="en-US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마이페이지 노출</a:t>
            </a:r>
          </a:p>
        </p:txBody>
      </p:sp>
      <p:sp>
        <p:nvSpPr>
          <p:cNvPr id="105" name="모서리가 둥근 직사각형 104">
            <a:extLst>
              <a:ext uri="{FF2B5EF4-FFF2-40B4-BE49-F238E27FC236}">
                <a16:creationId xmlns:a16="http://schemas.microsoft.com/office/drawing/2014/main" id="{1545CF5C-9652-42C9-B52D-EA916D78866C}"/>
              </a:ext>
            </a:extLst>
          </p:cNvPr>
          <p:cNvSpPr/>
          <p:nvPr/>
        </p:nvSpPr>
        <p:spPr>
          <a:xfrm>
            <a:off x="5346744" y="4986118"/>
            <a:ext cx="840506" cy="338400"/>
          </a:xfrm>
          <a:prstGeom prst="roundRect">
            <a:avLst>
              <a:gd name="adj" fmla="val 50000"/>
            </a:avLst>
          </a:prstGeom>
          <a:solidFill>
            <a:srgbClr val="FFF2E9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ko-KR" altLang="en-US" sz="80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완료</a:t>
            </a:r>
            <a:endParaRPr lang="ko-KR" altLang="en-US" sz="1000" dirty="0">
              <a:solidFill>
                <a:srgbClr val="000000"/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</p:txBody>
      </p:sp>
      <p:cxnSp>
        <p:nvCxnSpPr>
          <p:cNvPr id="106" name="직선 화살표 연결선 105">
            <a:extLst>
              <a:ext uri="{FF2B5EF4-FFF2-40B4-BE49-F238E27FC236}">
                <a16:creationId xmlns:a16="http://schemas.microsoft.com/office/drawing/2014/main" id="{A225B93D-2579-44CC-A591-F86C1F45C7AA}"/>
              </a:ext>
            </a:extLst>
          </p:cNvPr>
          <p:cNvCxnSpPr>
            <a:cxnSpLocks/>
          </p:cNvCxnSpPr>
          <p:nvPr/>
        </p:nvCxnSpPr>
        <p:spPr>
          <a:xfrm>
            <a:off x="5759541" y="4800113"/>
            <a:ext cx="0" cy="144404"/>
          </a:xfrm>
          <a:prstGeom prst="straightConnector1">
            <a:avLst/>
          </a:prstGeom>
          <a:ln>
            <a:solidFill>
              <a:srgbClr val="F47710"/>
            </a:solidFill>
            <a:headEnd w="sm" len="sm"/>
            <a:tailEnd type="triangle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꺾인 연결선 51">
            <a:extLst>
              <a:ext uri="{FF2B5EF4-FFF2-40B4-BE49-F238E27FC236}">
                <a16:creationId xmlns:a16="http://schemas.microsoft.com/office/drawing/2014/main" id="{3290B2E1-F73B-4375-940C-E7DDB2F06D8F}"/>
              </a:ext>
            </a:extLst>
          </p:cNvPr>
          <p:cNvCxnSpPr>
            <a:cxnSpLocks/>
          </p:cNvCxnSpPr>
          <p:nvPr/>
        </p:nvCxnSpPr>
        <p:spPr>
          <a:xfrm rot="10800000">
            <a:off x="6493897" y="2763669"/>
            <a:ext cx="12700" cy="1217083"/>
          </a:xfrm>
          <a:prstGeom prst="bentConnector3">
            <a:avLst>
              <a:gd name="adj1" fmla="val -5629024"/>
            </a:avLst>
          </a:prstGeom>
          <a:ln>
            <a:solidFill>
              <a:srgbClr val="FF0000"/>
            </a:solidFill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TextBox 107">
            <a:extLst>
              <a:ext uri="{FF2B5EF4-FFF2-40B4-BE49-F238E27FC236}">
                <a16:creationId xmlns:a16="http://schemas.microsoft.com/office/drawing/2014/main" id="{7937069A-B501-4877-AEAF-AA0C6C565FEF}"/>
              </a:ext>
            </a:extLst>
          </p:cNvPr>
          <p:cNvSpPr txBox="1"/>
          <p:nvPr/>
        </p:nvSpPr>
        <p:spPr>
          <a:xfrm>
            <a:off x="6705707" y="3773058"/>
            <a:ext cx="303288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600" b="1" dirty="0">
                <a:solidFill>
                  <a:srgbClr val="FF0000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NO</a:t>
            </a:r>
            <a:endParaRPr lang="ko-KR" altLang="en-US" sz="600" b="1" dirty="0">
              <a:solidFill>
                <a:srgbClr val="FF0000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BDF07F9B-FB0D-4A5D-A43C-FF32EE93861D}"/>
              </a:ext>
            </a:extLst>
          </p:cNvPr>
          <p:cNvSpPr txBox="1"/>
          <p:nvPr/>
        </p:nvSpPr>
        <p:spPr>
          <a:xfrm>
            <a:off x="5810316" y="4162802"/>
            <a:ext cx="322524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600" b="1" dirty="0">
                <a:solidFill>
                  <a:srgbClr val="0078D7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YES</a:t>
            </a:r>
            <a:endParaRPr lang="ko-KR" altLang="en-US" sz="600" b="1" dirty="0">
              <a:solidFill>
                <a:srgbClr val="0078D7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cxnSp>
        <p:nvCxnSpPr>
          <p:cNvPr id="110" name="직선 화살표 연결선 109">
            <a:extLst>
              <a:ext uri="{FF2B5EF4-FFF2-40B4-BE49-F238E27FC236}">
                <a16:creationId xmlns:a16="http://schemas.microsoft.com/office/drawing/2014/main" id="{BE7EBA11-63F9-4B8E-B14B-764B42E038F7}"/>
              </a:ext>
            </a:extLst>
          </p:cNvPr>
          <p:cNvCxnSpPr>
            <a:cxnSpLocks/>
          </p:cNvCxnSpPr>
          <p:nvPr/>
        </p:nvCxnSpPr>
        <p:spPr>
          <a:xfrm>
            <a:off x="5765570" y="4177300"/>
            <a:ext cx="2854" cy="159304"/>
          </a:xfrm>
          <a:prstGeom prst="straightConnector1">
            <a:avLst/>
          </a:prstGeom>
          <a:ln>
            <a:solidFill>
              <a:srgbClr val="0078D7"/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" name="직사각형 110">
            <a:extLst>
              <a:ext uri="{FF2B5EF4-FFF2-40B4-BE49-F238E27FC236}">
                <a16:creationId xmlns:a16="http://schemas.microsoft.com/office/drawing/2014/main" id="{0A813FC0-47D4-4F8D-A11C-E349DECF8FA2}"/>
              </a:ext>
            </a:extLst>
          </p:cNvPr>
          <p:cNvSpPr/>
          <p:nvPr/>
        </p:nvSpPr>
        <p:spPr>
          <a:xfrm>
            <a:off x="6681920" y="3181972"/>
            <a:ext cx="1098099" cy="338554"/>
          </a:xfrm>
          <a:prstGeom prst="rect">
            <a:avLst/>
          </a:prstGeom>
          <a:solidFill>
            <a:schemeClr val="bg1"/>
          </a:solidFill>
          <a:ln w="9525" cap="rnd">
            <a:solidFill>
              <a:schemeClr val="tx1">
                <a:lumMod val="50000"/>
                <a:lumOff val="50000"/>
              </a:schemeClr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en-US" altLang="ko-KR" sz="80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‘</a:t>
            </a:r>
            <a:r>
              <a:rPr lang="ko-KR" altLang="en-US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아이디와 비밀번호를 </a:t>
            </a:r>
            <a:endParaRPr lang="en-US" altLang="ko-KR" sz="750" dirty="0">
              <a:solidFill>
                <a:srgbClr val="000000"/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  <a:p>
            <a:pPr algn="ctr"/>
            <a:r>
              <a:rPr lang="ko-KR" altLang="en-US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확인해주세요</a:t>
            </a:r>
            <a:r>
              <a:rPr lang="en-US" altLang="ko-KR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.’ </a:t>
            </a:r>
            <a:r>
              <a:rPr lang="ko-KR" altLang="en-US" sz="750" dirty="0" err="1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얼럿</a:t>
            </a:r>
            <a:endParaRPr lang="ko-KR" altLang="en-US" sz="750" dirty="0">
              <a:solidFill>
                <a:srgbClr val="000000"/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64B9737C-AF4C-4715-8F58-75FD2FA96A04}"/>
              </a:ext>
            </a:extLst>
          </p:cNvPr>
          <p:cNvSpPr txBox="1"/>
          <p:nvPr/>
        </p:nvSpPr>
        <p:spPr>
          <a:xfrm>
            <a:off x="4572000" y="350428"/>
            <a:ext cx="456369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로그인 프로세스</a:t>
            </a:r>
          </a:p>
        </p:txBody>
      </p:sp>
      <p:cxnSp>
        <p:nvCxnSpPr>
          <p:cNvPr id="113" name="직선 연결선 112">
            <a:extLst>
              <a:ext uri="{FF2B5EF4-FFF2-40B4-BE49-F238E27FC236}">
                <a16:creationId xmlns:a16="http://schemas.microsoft.com/office/drawing/2014/main" id="{32B5AF49-B377-4AD8-BC34-873DED121F0A}"/>
              </a:ext>
            </a:extLst>
          </p:cNvPr>
          <p:cNvCxnSpPr/>
          <p:nvPr/>
        </p:nvCxnSpPr>
        <p:spPr>
          <a:xfrm>
            <a:off x="4580308" y="195278"/>
            <a:ext cx="0" cy="5519722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직선 화살표 연결선 117">
            <a:extLst>
              <a:ext uri="{FF2B5EF4-FFF2-40B4-BE49-F238E27FC236}">
                <a16:creationId xmlns:a16="http://schemas.microsoft.com/office/drawing/2014/main" id="{5B0FD2A9-4D22-4387-957E-D0A08A936493}"/>
              </a:ext>
            </a:extLst>
          </p:cNvPr>
          <p:cNvCxnSpPr>
            <a:cxnSpLocks/>
          </p:cNvCxnSpPr>
          <p:nvPr/>
        </p:nvCxnSpPr>
        <p:spPr>
          <a:xfrm>
            <a:off x="1242411" y="1163482"/>
            <a:ext cx="2854" cy="159304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직선 화살표 연결선 118">
            <a:extLst>
              <a:ext uri="{FF2B5EF4-FFF2-40B4-BE49-F238E27FC236}">
                <a16:creationId xmlns:a16="http://schemas.microsoft.com/office/drawing/2014/main" id="{5B0FD2A9-4D22-4387-957E-D0A08A936493}"/>
              </a:ext>
            </a:extLst>
          </p:cNvPr>
          <p:cNvCxnSpPr>
            <a:cxnSpLocks/>
          </p:cNvCxnSpPr>
          <p:nvPr/>
        </p:nvCxnSpPr>
        <p:spPr>
          <a:xfrm>
            <a:off x="5749699" y="1163482"/>
            <a:ext cx="2854" cy="159304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310250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Display">
            <a:extLst>
              <a:ext uri="{FF2B5EF4-FFF2-40B4-BE49-F238E27FC236}">
                <a16:creationId xmlns:a16="http://schemas.microsoft.com/office/drawing/2014/main" id="{3A16EC33-B89C-4631-B8A9-894E0DE24846}"/>
              </a:ext>
            </a:extLst>
          </p:cNvPr>
          <p:cNvSpPr/>
          <p:nvPr/>
        </p:nvSpPr>
        <p:spPr>
          <a:xfrm>
            <a:off x="855068" y="741456"/>
            <a:ext cx="2157433" cy="4064000"/>
          </a:xfrm>
          <a:prstGeom prst="rect">
            <a:avLst/>
          </a:prstGeom>
          <a:solidFill>
            <a:srgbClr val="FFFFFF"/>
          </a:solidFill>
          <a:ln w="6350">
            <a:solidFill>
              <a:srgbClr val="80808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900" dirty="0">
              <a:solidFill>
                <a:srgbClr val="5F5F5F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63" name="Picture 2">
            <a:extLst>
              <a:ext uri="{FF2B5EF4-FFF2-40B4-BE49-F238E27FC236}">
                <a16:creationId xmlns:a16="http://schemas.microsoft.com/office/drawing/2014/main" id="{D2D92FDE-61C3-4B55-9ABE-E011104FA68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11707" y="377404"/>
            <a:ext cx="2052000" cy="444965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4" name="Picture 4">
            <a:extLst>
              <a:ext uri="{FF2B5EF4-FFF2-40B4-BE49-F238E27FC236}">
                <a16:creationId xmlns:a16="http://schemas.microsoft.com/office/drawing/2014/main" id="{151B5ED9-D023-4F8F-BA0E-C879873EBA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4077332" y="409228"/>
            <a:ext cx="2106179" cy="45927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65" name="그룹 64">
            <a:extLst>
              <a:ext uri="{FF2B5EF4-FFF2-40B4-BE49-F238E27FC236}">
                <a16:creationId xmlns:a16="http://schemas.microsoft.com/office/drawing/2014/main" id="{8C79F0D8-7CAD-4630-BF9F-D0328D0BCC1E}"/>
              </a:ext>
            </a:extLst>
          </p:cNvPr>
          <p:cNvGrpSpPr/>
          <p:nvPr/>
        </p:nvGrpSpPr>
        <p:grpSpPr>
          <a:xfrm>
            <a:off x="658936" y="626314"/>
            <a:ext cx="388720" cy="200055"/>
            <a:chOff x="4727047" y="5307508"/>
            <a:chExt cx="388720" cy="200055"/>
          </a:xfrm>
        </p:grpSpPr>
        <p:sp>
          <p:nvSpPr>
            <p:cNvPr id="66" name="타원 65">
              <a:extLst>
                <a:ext uri="{FF2B5EF4-FFF2-40B4-BE49-F238E27FC236}">
                  <a16:creationId xmlns:a16="http://schemas.microsoft.com/office/drawing/2014/main" id="{856DA23E-0395-4F06-B0C5-6660D48D5944}"/>
                </a:ext>
              </a:extLst>
            </p:cNvPr>
            <p:cNvSpPr/>
            <p:nvPr/>
          </p:nvSpPr>
          <p:spPr>
            <a:xfrm>
              <a:off x="4831407" y="5317535"/>
              <a:ext cx="180000" cy="180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>
              <a:glow rad="50800">
                <a:srgbClr val="FF0000">
                  <a:alpha val="30000"/>
                </a:srgbClr>
              </a:glow>
              <a:softEdge rad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sz="900"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  <p:sp>
          <p:nvSpPr>
            <p:cNvPr id="67" name="TextBox 27">
              <a:extLst>
                <a:ext uri="{FF2B5EF4-FFF2-40B4-BE49-F238E27FC236}">
                  <a16:creationId xmlns:a16="http://schemas.microsoft.com/office/drawing/2014/main" id="{FAF57EDB-7B1D-4552-9AD1-1FDB105962A0}"/>
                </a:ext>
              </a:extLst>
            </p:cNvPr>
            <p:cNvSpPr txBox="1"/>
            <p:nvPr/>
          </p:nvSpPr>
          <p:spPr>
            <a:xfrm>
              <a:off x="4727047" y="5307508"/>
              <a:ext cx="38872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700" b="1" dirty="0">
                  <a:solidFill>
                    <a:schemeClr val="bg1"/>
                  </a:solidFill>
                  <a:latin typeface="나눔고딕" panose="020D0604000000000000" pitchFamily="50" charset="-127"/>
                  <a:ea typeface="나눔고딕" panose="020D0604000000000000" pitchFamily="50" charset="-127"/>
                </a:rPr>
                <a:t>1</a:t>
              </a:r>
              <a:endPara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</p:grpSp>
      <p:sp>
        <p:nvSpPr>
          <p:cNvPr id="68" name="직사각형 67">
            <a:extLst>
              <a:ext uri="{FF2B5EF4-FFF2-40B4-BE49-F238E27FC236}">
                <a16:creationId xmlns:a16="http://schemas.microsoft.com/office/drawing/2014/main" id="{7B56E43C-CD3B-471A-A1E4-8546FE2A9AFF}"/>
              </a:ext>
            </a:extLst>
          </p:cNvPr>
          <p:cNvSpPr/>
          <p:nvPr/>
        </p:nvSpPr>
        <p:spPr>
          <a:xfrm>
            <a:off x="853296" y="2255366"/>
            <a:ext cx="1079024" cy="2540878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ko-KR" altLang="en-US" sz="850" dirty="0">
              <a:solidFill>
                <a:srgbClr val="00000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3" name="직사각형 72">
            <a:extLst>
              <a:ext uri="{FF2B5EF4-FFF2-40B4-BE49-F238E27FC236}">
                <a16:creationId xmlns:a16="http://schemas.microsoft.com/office/drawing/2014/main" id="{8CB361AB-062C-462F-9C86-A69602503DEA}"/>
              </a:ext>
            </a:extLst>
          </p:cNvPr>
          <p:cNvSpPr/>
          <p:nvPr/>
        </p:nvSpPr>
        <p:spPr>
          <a:xfrm>
            <a:off x="1932819" y="2255365"/>
            <a:ext cx="1079682" cy="2533459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ko-KR" altLang="en-US" sz="850" dirty="0">
              <a:solidFill>
                <a:srgbClr val="00000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0F9727B9-9AEC-47CF-98B7-88A8DDB3CEC4}"/>
              </a:ext>
            </a:extLst>
          </p:cNvPr>
          <p:cNvSpPr txBox="1"/>
          <p:nvPr/>
        </p:nvSpPr>
        <p:spPr>
          <a:xfrm>
            <a:off x="869350" y="1673551"/>
            <a:ext cx="215516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00" b="1" dirty="0">
                <a:latin typeface="나눔고딕" panose="020D0604000000000000" pitchFamily="50" charset="-127"/>
                <a:ea typeface="나눔고딕" panose="020D0604000000000000" pitchFamily="50" charset="-127"/>
              </a:rPr>
              <a:t>IT </a:t>
            </a:r>
            <a:r>
              <a:rPr lang="ko-KR" altLang="en-US" sz="1000" b="1" dirty="0" err="1">
                <a:latin typeface="나눔고딕" panose="020D0604000000000000" pitchFamily="50" charset="-127"/>
                <a:ea typeface="나눔고딕" panose="020D0604000000000000" pitchFamily="50" charset="-127"/>
              </a:rPr>
              <a:t>아웃소싱</a:t>
            </a:r>
            <a:r>
              <a:rPr lang="ko-KR" altLang="en-US" sz="1000" b="1" dirty="0">
                <a:latin typeface="나눔고딕" panose="020D0604000000000000" pitchFamily="50" charset="-127"/>
                <a:ea typeface="나눔고딕" panose="020D0604000000000000" pitchFamily="50" charset="-127"/>
              </a:rPr>
              <a:t> 플랫폼 </a:t>
            </a:r>
            <a:r>
              <a:rPr lang="ko-KR" altLang="en-US" sz="1000" b="1" dirty="0" err="1">
                <a:latin typeface="나눔고딕" panose="020D0604000000000000" pitchFamily="50" charset="-127"/>
                <a:ea typeface="나눔고딕" panose="020D0604000000000000" pitchFamily="50" charset="-127"/>
              </a:rPr>
              <a:t>프리모아</a:t>
            </a:r>
            <a:endParaRPr lang="ko-KR" altLang="en-US" sz="1000" b="1" dirty="0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C29ECD87-B44B-4D61-938E-FCADD1D3679E}"/>
              </a:ext>
            </a:extLst>
          </p:cNvPr>
          <p:cNvSpPr txBox="1"/>
          <p:nvPr/>
        </p:nvSpPr>
        <p:spPr>
          <a:xfrm>
            <a:off x="1360073" y="1899147"/>
            <a:ext cx="1173718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Fast / Trust / Safe / Easy</a:t>
            </a:r>
            <a:endParaRPr lang="ko-KR" altLang="en-US" sz="700" dirty="0">
              <a:solidFill>
                <a:schemeClr val="tx1">
                  <a:lumMod val="50000"/>
                  <a:lumOff val="50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D01BCC18-8131-41FB-B057-8FC906B885A2}"/>
              </a:ext>
            </a:extLst>
          </p:cNvPr>
          <p:cNvSpPr txBox="1"/>
          <p:nvPr/>
        </p:nvSpPr>
        <p:spPr>
          <a:xfrm>
            <a:off x="873099" y="2400704"/>
            <a:ext cx="107920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800" dirty="0">
                <a:solidFill>
                  <a:schemeClr val="tx1">
                    <a:lumMod val="50000"/>
                    <a:lumOff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프로젝트를 </a:t>
            </a:r>
            <a:endParaRPr lang="en-US" altLang="ko-KR" sz="800" dirty="0">
              <a:solidFill>
                <a:schemeClr val="tx1">
                  <a:lumMod val="50000"/>
                  <a:lumOff val="50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800" dirty="0">
                <a:solidFill>
                  <a:schemeClr val="tx1">
                    <a:lumMod val="50000"/>
                    <a:lumOff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의뢰하는 </a:t>
            </a:r>
            <a:endParaRPr lang="en-US" altLang="ko-KR" sz="800" dirty="0">
              <a:solidFill>
                <a:schemeClr val="tx1">
                  <a:lumMod val="50000"/>
                  <a:lumOff val="50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클라이언트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FD2479D5-DB39-44B3-A09B-6E6B296EBFE4}"/>
              </a:ext>
            </a:extLst>
          </p:cNvPr>
          <p:cNvSpPr txBox="1"/>
          <p:nvPr/>
        </p:nvSpPr>
        <p:spPr>
          <a:xfrm>
            <a:off x="1978576" y="2389029"/>
            <a:ext cx="107920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800" dirty="0">
                <a:solidFill>
                  <a:schemeClr val="tx1">
                    <a:lumMod val="50000"/>
                    <a:lumOff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프로젝트를</a:t>
            </a:r>
            <a:endParaRPr lang="en-US" altLang="ko-KR" sz="800" dirty="0">
              <a:solidFill>
                <a:schemeClr val="tx1">
                  <a:lumMod val="50000"/>
                  <a:lumOff val="50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800" dirty="0">
                <a:solidFill>
                  <a:schemeClr val="tx1">
                    <a:lumMod val="50000"/>
                    <a:lumOff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수행하는</a:t>
            </a:r>
            <a:endParaRPr lang="en-US" altLang="ko-KR" sz="800" dirty="0">
              <a:solidFill>
                <a:schemeClr val="tx1">
                  <a:lumMod val="50000"/>
                  <a:lumOff val="50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프리랜서</a:t>
            </a:r>
          </a:p>
        </p:txBody>
      </p:sp>
      <p:sp>
        <p:nvSpPr>
          <p:cNvPr id="81" name="모서리가 둥근 직사각형 23">
            <a:extLst>
              <a:ext uri="{FF2B5EF4-FFF2-40B4-BE49-F238E27FC236}">
                <a16:creationId xmlns:a16="http://schemas.microsoft.com/office/drawing/2014/main" id="{E4BA0A66-3D68-423D-ADAA-D2002D8CAEA8}"/>
              </a:ext>
            </a:extLst>
          </p:cNvPr>
          <p:cNvSpPr/>
          <p:nvPr/>
        </p:nvSpPr>
        <p:spPr>
          <a:xfrm>
            <a:off x="994193" y="3035360"/>
            <a:ext cx="818222" cy="251738"/>
          </a:xfrm>
          <a:prstGeom prst="roundRect">
            <a:avLst>
              <a:gd name="adj" fmla="val 50000"/>
            </a:avLst>
          </a:prstGeom>
          <a:noFill/>
          <a:ln w="31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ko-KR" altLang="en-US" sz="800" dirty="0">
              <a:solidFill>
                <a:srgbClr val="000000"/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</p:txBody>
      </p:sp>
      <p:sp>
        <p:nvSpPr>
          <p:cNvPr id="82" name="직사각형 81">
            <a:extLst>
              <a:ext uri="{FF2B5EF4-FFF2-40B4-BE49-F238E27FC236}">
                <a16:creationId xmlns:a16="http://schemas.microsoft.com/office/drawing/2014/main" id="{5E94E669-F18F-4449-945B-2DDDEB25F006}"/>
              </a:ext>
            </a:extLst>
          </p:cNvPr>
          <p:cNvSpPr/>
          <p:nvPr/>
        </p:nvSpPr>
        <p:spPr>
          <a:xfrm>
            <a:off x="853296" y="4624233"/>
            <a:ext cx="2159205" cy="185216"/>
          </a:xfrm>
          <a:prstGeom prst="rect">
            <a:avLst/>
          </a:prstGeom>
          <a:solidFill>
            <a:schemeClr val="accent1">
              <a:lumMod val="75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ko-KR" altLang="en-US" sz="850" dirty="0">
              <a:solidFill>
                <a:srgbClr val="00000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E1B2D425-2EC0-48A7-A46E-F10B5A03828C}"/>
              </a:ext>
            </a:extLst>
          </p:cNvPr>
          <p:cNvSpPr txBox="1"/>
          <p:nvPr/>
        </p:nvSpPr>
        <p:spPr>
          <a:xfrm>
            <a:off x="853296" y="4609394"/>
            <a:ext cx="2139425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700" dirty="0">
                <a:solidFill>
                  <a:schemeClr val="bg1"/>
                </a:solidFill>
              </a:rPr>
              <a:t>당신의 성공적인 </a:t>
            </a:r>
            <a:r>
              <a:rPr lang="en-US" altLang="ko-KR" sz="700" dirty="0">
                <a:solidFill>
                  <a:schemeClr val="bg1"/>
                </a:solidFill>
              </a:rPr>
              <a:t>IT </a:t>
            </a:r>
            <a:r>
              <a:rPr lang="ko-KR" altLang="en-US" sz="700" dirty="0" err="1">
                <a:solidFill>
                  <a:schemeClr val="bg1"/>
                </a:solidFill>
              </a:rPr>
              <a:t>아웃소싱을</a:t>
            </a:r>
            <a:r>
              <a:rPr lang="ko-KR" altLang="en-US" sz="700" dirty="0">
                <a:solidFill>
                  <a:schemeClr val="bg1"/>
                </a:solidFill>
              </a:rPr>
              <a:t> 응원합니다</a:t>
            </a:r>
            <a:r>
              <a:rPr lang="en-US" altLang="ko-KR" sz="700" dirty="0">
                <a:solidFill>
                  <a:schemeClr val="bg1"/>
                </a:solidFill>
              </a:rPr>
              <a:t>.</a:t>
            </a:r>
            <a:endParaRPr lang="ko-KR" altLang="en-US" sz="700" dirty="0">
              <a:solidFill>
                <a:schemeClr val="bg1"/>
              </a:solidFill>
            </a:endParaRP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6C8EC2F8-DF07-42DF-AF2E-43B8D15D8626}"/>
              </a:ext>
            </a:extLst>
          </p:cNvPr>
          <p:cNvSpPr txBox="1"/>
          <p:nvPr/>
        </p:nvSpPr>
        <p:spPr>
          <a:xfrm>
            <a:off x="1118611" y="3053507"/>
            <a:ext cx="56938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800" dirty="0" err="1">
                <a:latin typeface="나눔고딕" panose="020D0604000000000000" pitchFamily="50" charset="-127"/>
                <a:ea typeface="나눔고딕" panose="020D0604000000000000" pitchFamily="50" charset="-127"/>
              </a:rPr>
              <a:t>바로가기</a:t>
            </a:r>
            <a:endParaRPr lang="ko-KR" altLang="en-US" sz="800" dirty="0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85" name="모서리가 둥근 직사각형 39">
            <a:extLst>
              <a:ext uri="{FF2B5EF4-FFF2-40B4-BE49-F238E27FC236}">
                <a16:creationId xmlns:a16="http://schemas.microsoft.com/office/drawing/2014/main" id="{35F139CB-DEA2-4DB6-ACA5-E6905F0AFBFC}"/>
              </a:ext>
            </a:extLst>
          </p:cNvPr>
          <p:cNvSpPr/>
          <p:nvPr/>
        </p:nvSpPr>
        <p:spPr>
          <a:xfrm>
            <a:off x="2066471" y="3035360"/>
            <a:ext cx="818222" cy="251738"/>
          </a:xfrm>
          <a:prstGeom prst="roundRect">
            <a:avLst>
              <a:gd name="adj" fmla="val 50000"/>
            </a:avLst>
          </a:prstGeom>
          <a:noFill/>
          <a:ln w="31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ko-KR" altLang="en-US" sz="800" dirty="0">
              <a:solidFill>
                <a:srgbClr val="000000"/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BDDA3C38-6A1D-4E8E-80C6-280735DD89E6}"/>
              </a:ext>
            </a:extLst>
          </p:cNvPr>
          <p:cNvSpPr txBox="1"/>
          <p:nvPr/>
        </p:nvSpPr>
        <p:spPr>
          <a:xfrm>
            <a:off x="2190889" y="3053507"/>
            <a:ext cx="56938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800" dirty="0" err="1">
                <a:latin typeface="나눔고딕" panose="020D0604000000000000" pitchFamily="50" charset="-127"/>
                <a:ea typeface="나눔고딕" panose="020D0604000000000000" pitchFamily="50" charset="-127"/>
              </a:rPr>
              <a:t>바로가기</a:t>
            </a:r>
            <a:endParaRPr lang="ko-KR" altLang="en-US" sz="800" dirty="0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pic>
        <p:nvPicPr>
          <p:cNvPr id="87" name="그림 86">
            <a:extLst>
              <a:ext uri="{FF2B5EF4-FFF2-40B4-BE49-F238E27FC236}">
                <a16:creationId xmlns:a16="http://schemas.microsoft.com/office/drawing/2014/main" id="{266CDD17-082A-4CD5-BA5C-38396C58B66C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7988"/>
          <a:stretch/>
        </p:blipFill>
        <p:spPr>
          <a:xfrm>
            <a:off x="1083471" y="3568063"/>
            <a:ext cx="1700643" cy="1054612"/>
          </a:xfrm>
          <a:prstGeom prst="rect">
            <a:avLst/>
          </a:prstGeom>
        </p:spPr>
      </p:pic>
      <p:grpSp>
        <p:nvGrpSpPr>
          <p:cNvPr id="88" name="그룹 87">
            <a:extLst>
              <a:ext uri="{FF2B5EF4-FFF2-40B4-BE49-F238E27FC236}">
                <a16:creationId xmlns:a16="http://schemas.microsoft.com/office/drawing/2014/main" id="{DAC48BEF-E8F2-4A78-A767-BCEF95BCE393}"/>
              </a:ext>
            </a:extLst>
          </p:cNvPr>
          <p:cNvGrpSpPr/>
          <p:nvPr/>
        </p:nvGrpSpPr>
        <p:grpSpPr>
          <a:xfrm>
            <a:off x="844787" y="2940478"/>
            <a:ext cx="388720" cy="200055"/>
            <a:chOff x="4727047" y="5307508"/>
            <a:chExt cx="388720" cy="200055"/>
          </a:xfrm>
        </p:grpSpPr>
        <p:sp>
          <p:nvSpPr>
            <p:cNvPr id="89" name="타원 88">
              <a:extLst>
                <a:ext uri="{FF2B5EF4-FFF2-40B4-BE49-F238E27FC236}">
                  <a16:creationId xmlns:a16="http://schemas.microsoft.com/office/drawing/2014/main" id="{4F620F9C-5706-46BC-9266-5F5917766FB1}"/>
                </a:ext>
              </a:extLst>
            </p:cNvPr>
            <p:cNvSpPr/>
            <p:nvPr/>
          </p:nvSpPr>
          <p:spPr>
            <a:xfrm>
              <a:off x="4831407" y="5317535"/>
              <a:ext cx="180000" cy="180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>
              <a:glow rad="50800">
                <a:srgbClr val="FF0000">
                  <a:alpha val="30000"/>
                </a:srgbClr>
              </a:glow>
              <a:softEdge rad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sz="900"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  <p:sp>
          <p:nvSpPr>
            <p:cNvPr id="90" name="TextBox 27">
              <a:extLst>
                <a:ext uri="{FF2B5EF4-FFF2-40B4-BE49-F238E27FC236}">
                  <a16:creationId xmlns:a16="http://schemas.microsoft.com/office/drawing/2014/main" id="{81BA31C5-E6A1-490F-8175-4A37F1995404}"/>
                </a:ext>
              </a:extLst>
            </p:cNvPr>
            <p:cNvSpPr txBox="1"/>
            <p:nvPr/>
          </p:nvSpPr>
          <p:spPr>
            <a:xfrm>
              <a:off x="4727047" y="5307508"/>
              <a:ext cx="38872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700" b="1" dirty="0">
                  <a:solidFill>
                    <a:schemeClr val="bg1"/>
                  </a:solidFill>
                  <a:latin typeface="나눔고딕" panose="020D0604000000000000" pitchFamily="50" charset="-127"/>
                  <a:ea typeface="나눔고딕" panose="020D0604000000000000" pitchFamily="50" charset="-127"/>
                </a:rPr>
                <a:t>2</a:t>
              </a:r>
              <a:endPara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</p:grpSp>
      <p:grpSp>
        <p:nvGrpSpPr>
          <p:cNvPr id="91" name="그룹 90">
            <a:extLst>
              <a:ext uri="{FF2B5EF4-FFF2-40B4-BE49-F238E27FC236}">
                <a16:creationId xmlns:a16="http://schemas.microsoft.com/office/drawing/2014/main" id="{3C0DE1C6-36D5-4EAF-B092-3E54F90BF7B5}"/>
              </a:ext>
            </a:extLst>
          </p:cNvPr>
          <p:cNvGrpSpPr/>
          <p:nvPr/>
        </p:nvGrpSpPr>
        <p:grpSpPr>
          <a:xfrm>
            <a:off x="1919433" y="2940478"/>
            <a:ext cx="388720" cy="200055"/>
            <a:chOff x="4727047" y="5307508"/>
            <a:chExt cx="388720" cy="200055"/>
          </a:xfrm>
        </p:grpSpPr>
        <p:sp>
          <p:nvSpPr>
            <p:cNvPr id="92" name="타원 91">
              <a:extLst>
                <a:ext uri="{FF2B5EF4-FFF2-40B4-BE49-F238E27FC236}">
                  <a16:creationId xmlns:a16="http://schemas.microsoft.com/office/drawing/2014/main" id="{C50D1D52-F443-43AA-B347-55CECB59CDE1}"/>
                </a:ext>
              </a:extLst>
            </p:cNvPr>
            <p:cNvSpPr/>
            <p:nvPr/>
          </p:nvSpPr>
          <p:spPr>
            <a:xfrm>
              <a:off x="4831407" y="5317535"/>
              <a:ext cx="180000" cy="180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>
              <a:glow rad="50800">
                <a:srgbClr val="FF0000">
                  <a:alpha val="30000"/>
                </a:srgbClr>
              </a:glow>
              <a:softEdge rad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sz="900"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  <p:sp>
          <p:nvSpPr>
            <p:cNvPr id="93" name="TextBox 27">
              <a:extLst>
                <a:ext uri="{FF2B5EF4-FFF2-40B4-BE49-F238E27FC236}">
                  <a16:creationId xmlns:a16="http://schemas.microsoft.com/office/drawing/2014/main" id="{698B4786-ABEA-42D0-A48C-8C48A92A8CC4}"/>
                </a:ext>
              </a:extLst>
            </p:cNvPr>
            <p:cNvSpPr txBox="1"/>
            <p:nvPr/>
          </p:nvSpPr>
          <p:spPr>
            <a:xfrm>
              <a:off x="4727047" y="5307508"/>
              <a:ext cx="38872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700" b="1" dirty="0">
                  <a:solidFill>
                    <a:schemeClr val="bg1"/>
                  </a:solidFill>
                  <a:latin typeface="나눔고딕" panose="020D0604000000000000" pitchFamily="50" charset="-127"/>
                  <a:ea typeface="나눔고딕" panose="020D0604000000000000" pitchFamily="50" charset="-127"/>
                </a:rPr>
                <a:t>3</a:t>
              </a:r>
              <a:endPara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</p:grpSp>
      <p:grpSp>
        <p:nvGrpSpPr>
          <p:cNvPr id="94" name="Placeholder" descr="&lt;SmartSettings&gt;&lt;SmartResize enabled=&quot;True&quot; minWidth=&quot;0&quot; minHeight=&quot;0&quot; /&gt;&lt;/SmartSettings&gt;">
            <a:extLst>
              <a:ext uri="{FF2B5EF4-FFF2-40B4-BE49-F238E27FC236}">
                <a16:creationId xmlns:a16="http://schemas.microsoft.com/office/drawing/2014/main" id="{497C2CAF-2493-4CB5-BF81-547697439007}"/>
              </a:ext>
            </a:extLst>
          </p:cNvPr>
          <p:cNvGrpSpPr/>
          <p:nvPr>
            <p:custDataLst>
              <p:tags r:id="rId1"/>
            </p:custDataLst>
          </p:nvPr>
        </p:nvGrpSpPr>
        <p:grpSpPr>
          <a:xfrm>
            <a:off x="1267014" y="1231936"/>
            <a:ext cx="1359836" cy="329108"/>
            <a:chOff x="3864744" y="2328044"/>
            <a:chExt cx="1008112" cy="1008112"/>
          </a:xfrm>
          <a:solidFill>
            <a:srgbClr val="FFFFFF"/>
          </a:solidFill>
        </p:grpSpPr>
        <p:grpSp>
          <p:nvGrpSpPr>
            <p:cNvPr id="95" name="Placeholder">
              <a:extLst>
                <a:ext uri="{FF2B5EF4-FFF2-40B4-BE49-F238E27FC236}">
                  <a16:creationId xmlns:a16="http://schemas.microsoft.com/office/drawing/2014/main" id="{34C25DA5-0D13-407A-9F60-C64D718CD39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864744" y="2328044"/>
              <a:ext cx="1008112" cy="1008112"/>
              <a:chOff x="508000" y="1397000"/>
              <a:chExt cx="1008112" cy="1008112"/>
            </a:xfrm>
            <a:grpFill/>
          </p:grpSpPr>
          <p:sp>
            <p:nvSpPr>
              <p:cNvPr id="97" name="Border">
                <a:extLst>
                  <a:ext uri="{FF2B5EF4-FFF2-40B4-BE49-F238E27FC236}">
                    <a16:creationId xmlns:a16="http://schemas.microsoft.com/office/drawing/2014/main" id="{947ABEC9-B148-464E-9328-5AC8EAC45B9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08000" y="1397000"/>
                <a:ext cx="1008112" cy="1008112"/>
              </a:xfrm>
              <a:prstGeom prst="rect">
                <a:avLst/>
              </a:prstGeom>
              <a:grpFill/>
              <a:ln w="6350">
                <a:solidFill>
                  <a:srgbClr val="80808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900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98" name="Line 2">
                <a:extLst>
                  <a:ext uri="{FF2B5EF4-FFF2-40B4-BE49-F238E27FC236}">
                    <a16:creationId xmlns:a16="http://schemas.microsoft.com/office/drawing/2014/main" id="{87F9FF62-D0A8-4F20-AD9A-5A906086579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08000" y="1397000"/>
                <a:ext cx="1008112" cy="1008112"/>
              </a:xfrm>
              <a:custGeom>
                <a:avLst/>
                <a:gdLst>
                  <a:gd name="connsiteX0" fmla="*/ 0 w 1008112"/>
                  <a:gd name="connsiteY0" fmla="*/ 1008112 h 1008112"/>
                  <a:gd name="connsiteX1" fmla="*/ 1008112 w 1008112"/>
                  <a:gd name="connsiteY1" fmla="*/ 0 h 10081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008112" h="1008112">
                    <a:moveTo>
                      <a:pt x="0" y="1008112"/>
                    </a:moveTo>
                    <a:lnTo>
                      <a:pt x="1008112" y="0"/>
                    </a:lnTo>
                  </a:path>
                </a:pathLst>
              </a:custGeom>
              <a:grpFill/>
              <a:ln w="6350">
                <a:solidFill>
                  <a:srgbClr val="80808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900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99" name="Line 1">
                <a:extLst>
                  <a:ext uri="{FF2B5EF4-FFF2-40B4-BE49-F238E27FC236}">
                    <a16:creationId xmlns:a16="http://schemas.microsoft.com/office/drawing/2014/main" id="{C50C0B86-4C61-4E09-AF85-9F6D4C6C7B4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08000" y="1397000"/>
                <a:ext cx="1008112" cy="1008112"/>
              </a:xfrm>
              <a:custGeom>
                <a:avLst/>
                <a:gdLst>
                  <a:gd name="connsiteX0" fmla="*/ 1008112 w 1008112"/>
                  <a:gd name="connsiteY0" fmla="*/ 1008112 h 1008112"/>
                  <a:gd name="connsiteX1" fmla="*/ 0 w 1008112"/>
                  <a:gd name="connsiteY1" fmla="*/ 0 h 10081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008112" h="1008112">
                    <a:moveTo>
                      <a:pt x="1008112" y="1008112"/>
                    </a:moveTo>
                    <a:lnTo>
                      <a:pt x="0" y="0"/>
                    </a:lnTo>
                  </a:path>
                </a:pathLst>
              </a:custGeom>
              <a:grpFill/>
              <a:ln w="6350">
                <a:solidFill>
                  <a:srgbClr val="80808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900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  <p:sp>
          <p:nvSpPr>
            <p:cNvPr id="96" name="Label" descr="&lt;SmartSettings&gt;&lt;SmartResize anchorLeft=&quot;Relative&quot; anchorTop=&quot;None&quot; anchorRight=&quot;Relative&quot; anchorBottom=&quot;None&quot; /&gt;&lt;/SmartSettings&gt;">
              <a:extLst>
                <a:ext uri="{FF2B5EF4-FFF2-40B4-BE49-F238E27FC236}">
                  <a16:creationId xmlns:a16="http://schemas.microsoft.com/office/drawing/2014/main" id="{26545CD3-0C36-4680-928A-BCDCCA32EB73}"/>
                </a:ext>
              </a:extLst>
            </p:cNvPr>
            <p:cNvSpPr txBox="1"/>
            <p:nvPr>
              <p:custDataLst>
                <p:tags r:id="rId2"/>
              </p:custDataLst>
            </p:nvPr>
          </p:nvSpPr>
          <p:spPr>
            <a:xfrm>
              <a:off x="4090625" y="2506844"/>
              <a:ext cx="556354" cy="650512"/>
            </a:xfrm>
            <a:prstGeom prst="rect">
              <a:avLst/>
            </a:prstGeom>
            <a:grpFill/>
          </p:spPr>
          <p:txBody>
            <a:bodyPr wrap="none" lIns="73152" tIns="36576" rIns="73152" bIns="36576" rtlCol="0" anchor="ctr" anchorCtr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sz="900" dirty="0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Logo image</a:t>
              </a:r>
            </a:p>
          </p:txBody>
        </p:sp>
      </p:grpSp>
      <p:grpSp>
        <p:nvGrpSpPr>
          <p:cNvPr id="100" name="그룹 99">
            <a:extLst>
              <a:ext uri="{FF2B5EF4-FFF2-40B4-BE49-F238E27FC236}">
                <a16:creationId xmlns:a16="http://schemas.microsoft.com/office/drawing/2014/main" id="{808A9BE6-31E1-4BC3-907E-F0F3E67FF122}"/>
              </a:ext>
            </a:extLst>
          </p:cNvPr>
          <p:cNvGrpSpPr/>
          <p:nvPr/>
        </p:nvGrpSpPr>
        <p:grpSpPr>
          <a:xfrm>
            <a:off x="924251" y="3525805"/>
            <a:ext cx="388720" cy="200055"/>
            <a:chOff x="4727047" y="5307508"/>
            <a:chExt cx="388720" cy="200055"/>
          </a:xfrm>
        </p:grpSpPr>
        <p:sp>
          <p:nvSpPr>
            <p:cNvPr id="101" name="타원 100">
              <a:extLst>
                <a:ext uri="{FF2B5EF4-FFF2-40B4-BE49-F238E27FC236}">
                  <a16:creationId xmlns:a16="http://schemas.microsoft.com/office/drawing/2014/main" id="{0A38F7D7-9FF0-4557-9E69-5F8AD4241A93}"/>
                </a:ext>
              </a:extLst>
            </p:cNvPr>
            <p:cNvSpPr/>
            <p:nvPr/>
          </p:nvSpPr>
          <p:spPr>
            <a:xfrm>
              <a:off x="4831407" y="5317535"/>
              <a:ext cx="180000" cy="180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>
              <a:glow rad="50800">
                <a:srgbClr val="FF0000">
                  <a:alpha val="30000"/>
                </a:srgbClr>
              </a:glow>
              <a:softEdge rad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sz="900"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  <p:sp>
          <p:nvSpPr>
            <p:cNvPr id="102" name="TextBox 27">
              <a:extLst>
                <a:ext uri="{FF2B5EF4-FFF2-40B4-BE49-F238E27FC236}">
                  <a16:creationId xmlns:a16="http://schemas.microsoft.com/office/drawing/2014/main" id="{9BA99754-36E1-411A-950A-CAABE565FDFB}"/>
                </a:ext>
              </a:extLst>
            </p:cNvPr>
            <p:cNvSpPr txBox="1"/>
            <p:nvPr/>
          </p:nvSpPr>
          <p:spPr>
            <a:xfrm>
              <a:off x="4727047" y="5307508"/>
              <a:ext cx="38872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700" b="1" dirty="0">
                  <a:solidFill>
                    <a:schemeClr val="bg1"/>
                  </a:solidFill>
                  <a:latin typeface="나눔고딕" panose="020D0604000000000000" pitchFamily="50" charset="-127"/>
                  <a:ea typeface="나눔고딕" panose="020D0604000000000000" pitchFamily="50" charset="-127"/>
                </a:rPr>
                <a:t>4</a:t>
              </a:r>
              <a:endPara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</p:grpSp>
      <p:sp>
        <p:nvSpPr>
          <p:cNvPr id="103" name="사각형: 둥근 모서리 102">
            <a:extLst>
              <a:ext uri="{FF2B5EF4-FFF2-40B4-BE49-F238E27FC236}">
                <a16:creationId xmlns:a16="http://schemas.microsoft.com/office/drawing/2014/main" id="{6C1FD548-8D64-4D7E-B72C-C0B51F2EDA9D}"/>
              </a:ext>
            </a:extLst>
          </p:cNvPr>
          <p:cNvSpPr/>
          <p:nvPr/>
        </p:nvSpPr>
        <p:spPr>
          <a:xfrm>
            <a:off x="3962965" y="1705519"/>
            <a:ext cx="2349484" cy="368634"/>
          </a:xfrm>
          <a:prstGeom prst="roundRect">
            <a:avLst>
              <a:gd name="adj" fmla="val 50000"/>
            </a:avLst>
          </a:prstGeom>
          <a:solidFill>
            <a:srgbClr val="FFFFE1"/>
          </a:solidFill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ko-KR" altLang="en-US" sz="85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기획서 토대로 나온 디자인</a:t>
            </a:r>
            <a:r>
              <a:rPr lang="en-US" altLang="ko-KR" sz="85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/</a:t>
            </a:r>
            <a:r>
              <a:rPr lang="ko-KR" altLang="en-US" sz="85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개발 산출물</a:t>
            </a:r>
          </a:p>
        </p:txBody>
      </p:sp>
      <p:cxnSp>
        <p:nvCxnSpPr>
          <p:cNvPr id="104" name="직선 화살표 연결선 103">
            <a:extLst>
              <a:ext uri="{FF2B5EF4-FFF2-40B4-BE49-F238E27FC236}">
                <a16:creationId xmlns:a16="http://schemas.microsoft.com/office/drawing/2014/main" id="{ACB4A5E4-701B-4783-BCB3-212901B9167D}"/>
              </a:ext>
            </a:extLst>
          </p:cNvPr>
          <p:cNvCxnSpPr/>
          <p:nvPr/>
        </p:nvCxnSpPr>
        <p:spPr>
          <a:xfrm>
            <a:off x="3360013" y="1893562"/>
            <a:ext cx="360040" cy="0"/>
          </a:xfrm>
          <a:prstGeom prst="straightConnector1">
            <a:avLst/>
          </a:prstGeom>
          <a:ln w="12700">
            <a:solidFill>
              <a:srgbClr val="FF0000"/>
            </a:solidFill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8" name="표 5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04010557"/>
              </p:ext>
            </p:extLst>
          </p:nvPr>
        </p:nvGraphicFramePr>
        <p:xfrm>
          <a:off x="6979021" y="0"/>
          <a:ext cx="2164979" cy="27070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19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30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320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6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DEVELOP</a:t>
                      </a:r>
                      <a:r>
                        <a:rPr lang="en-US" altLang="ko-KR" sz="600" b="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Description</a:t>
                      </a:r>
                      <a:endParaRPr lang="ko-KR" altLang="en-US" sz="6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7A1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179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1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Clr>
                          <a:srgbClr val="FF0000"/>
                        </a:buClr>
                        <a:buFont typeface="+mj-ea"/>
                        <a:buNone/>
                      </a:pPr>
                      <a:r>
                        <a:rPr lang="ko-KR" altLang="en-US" sz="7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모바일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 웹 랜딩 페이지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  <a:p>
                      <a:pPr marL="0" indent="0">
                        <a:lnSpc>
                          <a:spcPct val="150000"/>
                        </a:lnSpc>
                        <a:buClr>
                          <a:srgbClr val="FF0000"/>
                        </a:buClr>
                        <a:buFont typeface="+mj-ea"/>
                        <a:buNone/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최초접속 또는 비 로그인 상태에서 </a:t>
                      </a:r>
                      <a:r>
                        <a:rPr lang="en-US" altLang="ko-KR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 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m.freemoa.net 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접속 시 페이지 노출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179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2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클라이언트 페이지 이동 버튼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(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전체영역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)</a:t>
                      </a:r>
                    </a:p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m.freemoa.net/</a:t>
                      </a:r>
                      <a:r>
                        <a:rPr lang="en-US" altLang="ko-KR" sz="7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cmain</a:t>
                      </a:r>
                      <a:endParaRPr lang="ko-KR" altLang="en-US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179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3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프리랜서 페이지 이동 버튼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(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전체영역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)</a:t>
                      </a:r>
                    </a:p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m.freemoa.net/</a:t>
                      </a:r>
                      <a:r>
                        <a:rPr lang="en-US" altLang="ko-KR" sz="7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fmain</a:t>
                      </a:r>
                      <a:endParaRPr lang="ko-KR" altLang="en-US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179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4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179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5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179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6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60" name="표 5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00214455"/>
              </p:ext>
            </p:extLst>
          </p:nvPr>
        </p:nvGraphicFramePr>
        <p:xfrm>
          <a:off x="6979021" y="2857500"/>
          <a:ext cx="2164979" cy="270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19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30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385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6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DESIGN</a:t>
                      </a:r>
                      <a:r>
                        <a:rPr lang="en-US" altLang="ko-KR" sz="600" b="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Description</a:t>
                      </a:r>
                      <a:endParaRPr lang="ko-KR" altLang="en-US" sz="6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3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7A1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68786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1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Tx/>
                        <a:buFont typeface="+mj-ea"/>
                        <a:buNone/>
                        <a:tabLst/>
                        <a:defRPr/>
                      </a:pPr>
                      <a:r>
                        <a:rPr lang="ko-KR" altLang="en-US" sz="7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프리모아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 로고 포함 디자인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.</a:t>
                      </a:r>
                    </a:p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Tx/>
                        <a:buFont typeface="+mj-ea"/>
                        <a:buNone/>
                        <a:tabLst/>
                        <a:defRPr/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메인 랜딩이기 때문에 간결하고 컬러는 로고 내 컬러와 통일감을 주되 신뢰감 있는 컬러 위주로 사용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, </a:t>
                      </a:r>
                      <a:r>
                        <a:rPr lang="ko-KR" altLang="en-US" sz="7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가독성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 중요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.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864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2, 3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Clr>
                          <a:srgbClr val="FF0000"/>
                        </a:buClr>
                        <a:buFont typeface="+mj-ea"/>
                        <a:buNone/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명확히 구분되는 버튼 컬러 사용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864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4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일러스트로 이미지 삽입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864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5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864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6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07" name="TextBox 106">
            <a:extLst>
              <a:ext uri="{FF2B5EF4-FFF2-40B4-BE49-F238E27FC236}">
                <a16:creationId xmlns:a16="http://schemas.microsoft.com/office/drawing/2014/main" id="{1771AE34-32B3-4928-81B3-B37FCA5AC037}"/>
              </a:ext>
            </a:extLst>
          </p:cNvPr>
          <p:cNvSpPr txBox="1"/>
          <p:nvPr/>
        </p:nvSpPr>
        <p:spPr>
          <a:xfrm>
            <a:off x="264479" y="4548857"/>
            <a:ext cx="152657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스토리보드</a:t>
            </a:r>
            <a:endParaRPr lang="en-US" altLang="ko-KR" sz="1400" dirty="0">
              <a:solidFill>
                <a:schemeClr val="bg1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108" name="직사각형 107">
            <a:extLst>
              <a:ext uri="{FF2B5EF4-FFF2-40B4-BE49-F238E27FC236}">
                <a16:creationId xmlns:a16="http://schemas.microsoft.com/office/drawing/2014/main" id="{8FE455D5-A6E9-4A02-A74E-9AC5F2F4A5EF}"/>
              </a:ext>
            </a:extLst>
          </p:cNvPr>
          <p:cNvSpPr/>
          <p:nvPr/>
        </p:nvSpPr>
        <p:spPr>
          <a:xfrm>
            <a:off x="1605666" y="4563218"/>
            <a:ext cx="6834472" cy="25545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-  </a:t>
            </a:r>
            <a:r>
              <a:rPr lang="ko-KR" altLang="en-US" sz="800" dirty="0" err="1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모바일웹</a:t>
            </a:r>
            <a:r>
              <a:rPr lang="en-US" altLang="ko-KR" sz="8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/</a:t>
            </a:r>
            <a:r>
              <a:rPr lang="ko-KR" altLang="en-US" sz="8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앱 기획</a:t>
            </a:r>
            <a:r>
              <a:rPr lang="en-US" altLang="ko-KR" sz="8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  |   </a:t>
            </a:r>
            <a:r>
              <a:rPr lang="ko-KR" altLang="en-US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스토리보드는 </a:t>
            </a:r>
            <a:r>
              <a:rPr lang="en-US" altLang="ko-KR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UI(User Interface)</a:t>
            </a:r>
            <a:r>
              <a:rPr lang="ko-KR" altLang="en-US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라고 불리우는 서비스의 화면을 설계하고 실제 작업자에게 작업할 사항을 전달하는 문서입니다</a:t>
            </a:r>
            <a:r>
              <a:rPr lang="en-US" altLang="ko-KR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</a:t>
            </a:r>
          </a:p>
        </p:txBody>
      </p:sp>
      <p:sp>
        <p:nvSpPr>
          <p:cNvPr id="109" name="직사각형 108">
            <a:extLst>
              <a:ext uri="{FF2B5EF4-FFF2-40B4-BE49-F238E27FC236}">
                <a16:creationId xmlns:a16="http://schemas.microsoft.com/office/drawing/2014/main" id="{4731DA8E-52C6-46CD-A0AC-54D60BC5B572}"/>
              </a:ext>
            </a:extLst>
          </p:cNvPr>
          <p:cNvSpPr/>
          <p:nvPr/>
        </p:nvSpPr>
        <p:spPr>
          <a:xfrm>
            <a:off x="257370" y="4867392"/>
            <a:ext cx="8563102" cy="5582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이 또한 지정된 양식은 없으나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, 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화면을 설계하고 각 요소에 번호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(1, 2, 3)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로 표기 후 우측의 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Description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영역에 내용을 작성합니다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 </a:t>
            </a:r>
          </a:p>
          <a:p>
            <a:pPr>
              <a:lnSpc>
                <a:spcPct val="150000"/>
              </a:lnSpc>
            </a:pP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설명을 상세히 작성하되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, 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디자인 보다는 구성요소와 기능에 집중하여 작성합니다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 Description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영역은 개발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, 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디자인을 구분 할 수 있고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, 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구분 없이 하나로 작성하기도 합니다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예시는 스토리보드와 스토리보드를 토대로 실제 디자인 개발된 </a:t>
            </a:r>
            <a:r>
              <a:rPr lang="ko-KR" altLang="en-US" sz="700" b="1" dirty="0" err="1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프리모아</a:t>
            </a:r>
            <a:r>
              <a: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모바일 웹 페이지입니다</a:t>
            </a:r>
            <a:r>
              <a:rPr lang="en-US" altLang="ko-KR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</a:t>
            </a:r>
            <a:r>
              <a: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</a:t>
            </a:r>
            <a:endParaRPr lang="en-US" altLang="ko-KR" sz="700" b="1" dirty="0">
              <a:solidFill>
                <a:schemeClr val="bg1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pic>
        <p:nvPicPr>
          <p:cNvPr id="110" name="그래픽 109">
            <a:extLst>
              <a:ext uri="{FF2B5EF4-FFF2-40B4-BE49-F238E27FC236}">
                <a16:creationId xmlns:a16="http://schemas.microsoft.com/office/drawing/2014/main" id="{63D2007D-8014-4A1D-A365-0EB97054D64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291670" y="4625863"/>
            <a:ext cx="226966" cy="1721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19107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7" name="표 2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03626419"/>
              </p:ext>
            </p:extLst>
          </p:nvPr>
        </p:nvGraphicFramePr>
        <p:xfrm>
          <a:off x="6979021" y="0"/>
          <a:ext cx="2164979" cy="47903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19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30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320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6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DEVELOP</a:t>
                      </a:r>
                      <a:r>
                        <a:rPr lang="en-US" altLang="ko-KR" sz="600" b="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Description</a:t>
                      </a:r>
                      <a:endParaRPr lang="ko-KR" altLang="en-US" sz="6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7A1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5381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1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ko-KR" altLang="en-US" sz="700" b="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기본정보 페이지를 프로젝트 리스트 디폴트로 노출</a:t>
                      </a:r>
                      <a:endParaRPr lang="en-US" altLang="ko-KR" sz="700" b="0" baseline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5381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2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검색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/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필터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/</a:t>
                      </a:r>
                      <a:r>
                        <a:rPr lang="ko-KR" altLang="en-US" sz="7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소팅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바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필터에 따라 </a:t>
                      </a:r>
                      <a:r>
                        <a:rPr lang="ko-KR" altLang="en-US" sz="7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소팅이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구분됨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.</a:t>
                      </a:r>
                      <a:endParaRPr lang="ko-KR" altLang="en-US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0823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3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구성요소 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</a:t>
                      </a:r>
                    </a:p>
                    <a:p>
                      <a:pPr marL="171450" indent="-171450" latinLnBrk="1">
                        <a:lnSpc>
                          <a:spcPct val="150000"/>
                        </a:lnSpc>
                        <a:buFontTx/>
                        <a:buChar char="-"/>
                      </a:pPr>
                      <a:r>
                        <a:rPr lang="ko-KR" altLang="en-US" sz="7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즐겨찾기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☆표시는 비회원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/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파트너 회원에만 노출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(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클라이언트 노출하지 않음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)</a:t>
                      </a:r>
                    </a:p>
                    <a:p>
                      <a:pPr marL="171450" indent="-171450" latinLnBrk="1">
                        <a:lnSpc>
                          <a:spcPct val="150000"/>
                        </a:lnSpc>
                        <a:buFontTx/>
                        <a:buChar char="-"/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제목 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| 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등록일자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7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모집중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상주여부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신규여부 체크 마크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59893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4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50000"/>
                        </a:lnSpc>
                        <a:buFontTx/>
                        <a:buNone/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구성요소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  <a:p>
                      <a:pPr marL="171450" indent="-171450" latinLnBrk="1">
                        <a:lnSpc>
                          <a:spcPct val="150000"/>
                        </a:lnSpc>
                        <a:buFontTx/>
                        <a:buChar char="-"/>
                      </a:pPr>
                      <a:r>
                        <a:rPr lang="ko-KR" altLang="en-US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예산 만원단위로 작성</a:t>
                      </a:r>
                      <a:endParaRPr lang="en-US" altLang="ko-KR" sz="700" baseline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  <a:p>
                      <a:pPr marL="171450" indent="-171450" latinLnBrk="1">
                        <a:lnSpc>
                          <a:spcPct val="150000"/>
                        </a:lnSpc>
                        <a:buFontTx/>
                        <a:buChar char="-"/>
                      </a:pPr>
                      <a:r>
                        <a:rPr lang="ko-KR" altLang="en-US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기간 </a:t>
                      </a:r>
                      <a:r>
                        <a:rPr lang="ko-KR" altLang="en-US" sz="700" baseline="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일단위</a:t>
                      </a:r>
                      <a:r>
                        <a:rPr lang="ko-KR" altLang="en-US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노출</a:t>
                      </a:r>
                      <a:endParaRPr lang="en-US" altLang="ko-KR" sz="700" baseline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  <a:p>
                      <a:pPr marL="171450" indent="-171450" latinLnBrk="1">
                        <a:lnSpc>
                          <a:spcPct val="150000"/>
                        </a:lnSpc>
                        <a:buFontTx/>
                        <a:buChar char="-"/>
                      </a:pPr>
                      <a:r>
                        <a:rPr lang="ko-KR" altLang="en-US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마감 </a:t>
                      </a:r>
                      <a:r>
                        <a:rPr lang="en-US" altLang="ko-KR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D-</a:t>
                      </a:r>
                      <a:r>
                        <a:rPr lang="ko-KR" altLang="en-US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로 표기하되 마감 당일의 경우 </a:t>
                      </a:r>
                      <a:r>
                        <a:rPr lang="en-US" altLang="ko-KR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HH</a:t>
                      </a:r>
                      <a:r>
                        <a:rPr lang="ko-KR" altLang="en-US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시간 </a:t>
                      </a:r>
                      <a:r>
                        <a:rPr lang="en-US" altLang="ko-KR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MM</a:t>
                      </a:r>
                      <a:r>
                        <a:rPr lang="ko-KR" altLang="en-US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분 으로 표기하며 마감 후에는 마감 표기함</a:t>
                      </a:r>
                      <a:endParaRPr lang="en-US" altLang="ko-KR" sz="700" baseline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  <a:p>
                      <a:pPr marL="171450" indent="-171450" latinLnBrk="1">
                        <a:lnSpc>
                          <a:spcPct val="150000"/>
                        </a:lnSpc>
                        <a:buFontTx/>
                        <a:buChar char="-"/>
                      </a:pPr>
                      <a:r>
                        <a:rPr lang="ko-KR" altLang="en-US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지원자 수가 </a:t>
                      </a:r>
                      <a:r>
                        <a:rPr lang="en-US" altLang="ko-KR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99</a:t>
                      </a:r>
                      <a:r>
                        <a:rPr lang="ko-KR" altLang="en-US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가 넘는 경우 </a:t>
                      </a:r>
                      <a:r>
                        <a:rPr lang="en-US" altLang="ko-KR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99+</a:t>
                      </a:r>
                      <a:r>
                        <a:rPr lang="ko-KR" altLang="en-US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로 표기</a:t>
                      </a:r>
                      <a:endParaRPr lang="en-US" altLang="ko-KR" sz="700" baseline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  <a:p>
                      <a:pPr marL="171450" indent="-171450" latinLnBrk="1">
                        <a:lnSpc>
                          <a:spcPct val="150000"/>
                        </a:lnSpc>
                        <a:buFontTx/>
                        <a:buChar char="-"/>
                      </a:pPr>
                      <a:r>
                        <a:rPr lang="ko-KR" altLang="en-US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기획단계 </a:t>
                      </a:r>
                      <a:r>
                        <a:rPr lang="en-US" altLang="ko-KR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4</a:t>
                      </a:r>
                      <a:r>
                        <a:rPr lang="ko-KR" altLang="en-US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단계 노출 </a:t>
                      </a:r>
                      <a:r>
                        <a:rPr lang="en-US" altLang="ko-KR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: </a:t>
                      </a:r>
                      <a:r>
                        <a:rPr lang="ko-KR" altLang="en-US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아이디어단계</a:t>
                      </a:r>
                      <a:r>
                        <a:rPr lang="en-US" altLang="ko-KR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기능정의서 작성</a:t>
                      </a:r>
                      <a:r>
                        <a:rPr lang="en-US" altLang="ko-KR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기획서 </a:t>
                      </a:r>
                      <a:r>
                        <a:rPr lang="ko-KR" altLang="en-US" sz="700" baseline="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작성중</a:t>
                      </a:r>
                      <a:r>
                        <a:rPr lang="en-US" altLang="ko-KR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상세기획서 작성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92637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5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50000"/>
                        </a:lnSpc>
                        <a:buFontTx/>
                        <a:buNone/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구성요소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  <a:p>
                      <a:pPr marL="171450" indent="-171450" latinLnBrk="1">
                        <a:lnSpc>
                          <a:spcPct val="150000"/>
                        </a:lnSpc>
                        <a:buFontTx/>
                        <a:buChar char="-"/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프로젝트 분야 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1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차 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+ 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하위분야 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| 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필요기술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  <a:p>
                      <a:pPr marL="171450" indent="-171450" latinLnBrk="1">
                        <a:lnSpc>
                          <a:spcPct val="150000"/>
                        </a:lnSpc>
                        <a:buFontTx/>
                        <a:buChar char="-"/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프로젝트 상세내용 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2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줄까지 노출 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+ </a:t>
                      </a:r>
                      <a:r>
                        <a:rPr lang="ko-KR" altLang="en-US" sz="7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말줄임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표기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  <a:p>
                      <a:pPr marL="171450" indent="-171450" latinLnBrk="1">
                        <a:lnSpc>
                          <a:spcPct val="150000"/>
                        </a:lnSpc>
                        <a:buFontTx/>
                        <a:buChar char="-"/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클라이언트 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ID,</a:t>
                      </a:r>
                      <a:r>
                        <a:rPr lang="en-US" altLang="ko-KR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</a:t>
                      </a:r>
                      <a:r>
                        <a:rPr lang="ko-KR" altLang="en-US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프로필이미지</a:t>
                      </a:r>
                      <a:r>
                        <a:rPr lang="en-US" altLang="ko-KR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회사소개 작성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33567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6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50000"/>
                        </a:lnSpc>
                        <a:buFontTx/>
                        <a:buNone/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리스트는 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10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개까지 노출 후 </a:t>
                      </a:r>
                      <a:r>
                        <a:rPr lang="ko-KR" altLang="en-US" sz="7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페이징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처리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58" name="그림 57">
            <a:extLst>
              <a:ext uri="{FF2B5EF4-FFF2-40B4-BE49-F238E27FC236}">
                <a16:creationId xmlns:a16="http://schemas.microsoft.com/office/drawing/2014/main" id="{CE89E14B-E870-4DB4-8CF0-F21D7A38B5F0}"/>
              </a:ext>
            </a:extLst>
          </p:cNvPr>
          <p:cNvPicPr>
            <a:picLocks noChangeAspect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286" t="7518" r="20078" b="42250"/>
          <a:stretch/>
        </p:blipFill>
        <p:spPr>
          <a:xfrm>
            <a:off x="107504" y="382987"/>
            <a:ext cx="6669283" cy="5130914"/>
          </a:xfrm>
          <a:prstGeom prst="rect">
            <a:avLst/>
          </a:prstGeom>
        </p:spPr>
      </p:pic>
      <p:grpSp>
        <p:nvGrpSpPr>
          <p:cNvPr id="59" name="Window" descr="&lt;SmartSettings&gt;&lt;SmartResize enabled=&quot;True&quot; minWidth=&quot;0&quot; minHeight=&quot;0&quot; /&gt;&lt;/SmartSettings&gt;">
            <a:extLst>
              <a:ext uri="{FF2B5EF4-FFF2-40B4-BE49-F238E27FC236}">
                <a16:creationId xmlns:a16="http://schemas.microsoft.com/office/drawing/2014/main" id="{17A3767D-4FFE-499D-865D-A0D53FB00562}"/>
              </a:ext>
            </a:extLst>
          </p:cNvPr>
          <p:cNvGrpSpPr/>
          <p:nvPr>
            <p:custDataLst>
              <p:tags r:id="rId1"/>
            </p:custDataLst>
          </p:nvPr>
        </p:nvGrpSpPr>
        <p:grpSpPr>
          <a:xfrm>
            <a:off x="107504" y="265212"/>
            <a:ext cx="6780333" cy="5248689"/>
            <a:chOff x="660249" y="1104551"/>
            <a:chExt cx="6453531" cy="4963332"/>
          </a:xfrm>
        </p:grpSpPr>
        <p:grpSp>
          <p:nvGrpSpPr>
            <p:cNvPr id="60" name="Title Bar">
              <a:extLst>
                <a:ext uri="{FF2B5EF4-FFF2-40B4-BE49-F238E27FC236}">
                  <a16:creationId xmlns:a16="http://schemas.microsoft.com/office/drawing/2014/main" id="{0E65BE8F-3D25-4605-A7BB-A108DA76A9E1}"/>
                </a:ext>
              </a:extLst>
            </p:cNvPr>
            <p:cNvGrpSpPr/>
            <p:nvPr userDrawn="1"/>
          </p:nvGrpSpPr>
          <p:grpSpPr>
            <a:xfrm>
              <a:off x="660249" y="1104551"/>
              <a:ext cx="6453530" cy="216330"/>
              <a:chOff x="990598" y="1423196"/>
              <a:chExt cx="6401694" cy="26650"/>
            </a:xfrm>
            <a:solidFill>
              <a:srgbClr val="FFFFFF"/>
            </a:solidFill>
          </p:grpSpPr>
          <p:sp>
            <p:nvSpPr>
              <p:cNvPr id="62" name="Title Bar Background" descr="&lt;SmartSettings&gt;&lt;SmartResize anchorLeft=&quot;Absolute&quot; anchorTop=&quot;Absolute&quot; anchorRight=&quot;Absolute&quot; anchorBottom=&quot;None&quot; /&gt;&lt;/SmartSettings&gt;">
                <a:extLst>
                  <a:ext uri="{FF2B5EF4-FFF2-40B4-BE49-F238E27FC236}">
                    <a16:creationId xmlns:a16="http://schemas.microsoft.com/office/drawing/2014/main" id="{57F5F230-AEB8-41FE-92CB-A164696AAFCE}"/>
                  </a:ext>
                </a:extLst>
              </p:cNvPr>
              <p:cNvSpPr/>
              <p:nvPr userDrawn="1">
                <p:custDataLst>
                  <p:tags r:id="rId7"/>
                </p:custDataLst>
              </p:nvPr>
            </p:nvSpPr>
            <p:spPr>
              <a:xfrm>
                <a:off x="990598" y="1423196"/>
                <a:ext cx="6401694" cy="26650"/>
              </a:xfrm>
              <a:prstGeom prst="rect">
                <a:avLst/>
              </a:prstGeom>
              <a:solidFill>
                <a:srgbClr val="F2F2F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54864"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ko-KR" altLang="en-US" sz="680" dirty="0">
                    <a:solidFill>
                      <a:srgbClr val="000000"/>
                    </a:solidFill>
                    <a:latin typeface="나눔고딕" panose="020D0604000000000000" pitchFamily="50" charset="-127"/>
                    <a:ea typeface="나눔고딕" panose="020D0604000000000000" pitchFamily="50" charset="-127"/>
                    <a:cs typeface="Segoe UI" panose="020B0502040204020203" pitchFamily="34" charset="0"/>
                  </a:rPr>
                  <a:t>안전한 </a:t>
                </a:r>
                <a:r>
                  <a:rPr lang="en-US" altLang="ko-KR" sz="680" dirty="0">
                    <a:solidFill>
                      <a:srgbClr val="000000"/>
                    </a:solidFill>
                    <a:latin typeface="나눔고딕" panose="020D0604000000000000" pitchFamily="50" charset="-127"/>
                    <a:ea typeface="나눔고딕" panose="020D0604000000000000" pitchFamily="50" charset="-127"/>
                    <a:cs typeface="Segoe UI" panose="020B0502040204020203" pitchFamily="34" charset="0"/>
                  </a:rPr>
                  <a:t>IT </a:t>
                </a:r>
                <a:r>
                  <a:rPr lang="ko-KR" altLang="en-US" sz="680" dirty="0">
                    <a:solidFill>
                      <a:srgbClr val="000000"/>
                    </a:solidFill>
                    <a:latin typeface="나눔고딕" panose="020D0604000000000000" pitchFamily="50" charset="-127"/>
                    <a:ea typeface="나눔고딕" panose="020D0604000000000000" pitchFamily="50" charset="-127"/>
                    <a:cs typeface="Segoe UI" panose="020B0502040204020203" pitchFamily="34" charset="0"/>
                  </a:rPr>
                  <a:t>외주</a:t>
                </a:r>
                <a:r>
                  <a:rPr lang="en-US" altLang="ko-KR" sz="680" dirty="0">
                    <a:solidFill>
                      <a:srgbClr val="000000"/>
                    </a:solidFill>
                    <a:latin typeface="나눔고딕" panose="020D0604000000000000" pitchFamily="50" charset="-127"/>
                    <a:ea typeface="나눔고딕" panose="020D0604000000000000" pitchFamily="50" charset="-127"/>
                    <a:cs typeface="Segoe UI" panose="020B0502040204020203" pitchFamily="34" charset="0"/>
                  </a:rPr>
                  <a:t>:</a:t>
                </a:r>
                <a:r>
                  <a:rPr lang="ko-KR" altLang="en-US" sz="680" dirty="0" err="1">
                    <a:solidFill>
                      <a:srgbClr val="000000"/>
                    </a:solidFill>
                    <a:latin typeface="나눔고딕" panose="020D0604000000000000" pitchFamily="50" charset="-127"/>
                    <a:ea typeface="나눔고딕" panose="020D0604000000000000" pitchFamily="50" charset="-127"/>
                    <a:cs typeface="Segoe UI" panose="020B0502040204020203" pitchFamily="34" charset="0"/>
                  </a:rPr>
                  <a:t>아웃소싱</a:t>
                </a:r>
                <a:r>
                  <a:rPr lang="ko-KR" altLang="en-US" sz="680" dirty="0">
                    <a:solidFill>
                      <a:srgbClr val="000000"/>
                    </a:solidFill>
                    <a:latin typeface="나눔고딕" panose="020D0604000000000000" pitchFamily="50" charset="-127"/>
                    <a:ea typeface="나눔고딕" panose="020D0604000000000000" pitchFamily="50" charset="-127"/>
                    <a:cs typeface="Segoe UI" panose="020B0502040204020203" pitchFamily="34" charset="0"/>
                  </a:rPr>
                  <a:t> 플랫폼 </a:t>
                </a:r>
                <a:r>
                  <a:rPr lang="ko-KR" altLang="en-US" sz="680" dirty="0" err="1">
                    <a:solidFill>
                      <a:srgbClr val="000000"/>
                    </a:solidFill>
                    <a:latin typeface="나눔고딕" panose="020D0604000000000000" pitchFamily="50" charset="-127"/>
                    <a:ea typeface="나눔고딕" panose="020D0604000000000000" pitchFamily="50" charset="-127"/>
                    <a:cs typeface="Segoe UI" panose="020B0502040204020203" pitchFamily="34" charset="0"/>
                  </a:rPr>
                  <a:t>프리모아</a:t>
                </a:r>
                <a:endParaRPr lang="en-US" sz="680" dirty="0">
                  <a:solidFill>
                    <a:srgbClr val="000000"/>
                  </a:solidFill>
                  <a:latin typeface="나눔고딕" panose="020D0604000000000000" pitchFamily="50" charset="-127"/>
                  <a:ea typeface="나눔고딕" panose="020D0604000000000000" pitchFamily="50" charset="-127"/>
                  <a:cs typeface="Segoe UI" panose="020B0502040204020203" pitchFamily="34" charset="0"/>
                </a:endParaRPr>
              </a:p>
            </p:txBody>
          </p:sp>
          <p:sp>
            <p:nvSpPr>
              <p:cNvPr id="63" name="Minimize" descr="&lt;SmartSettings&gt;&lt;SmartResize anchorLeft=&quot;None&quot; anchorTop=&quot;Absolute&quot; anchorRight=&quot;Absolute&quot; anchorBottom=&quot;None&quot; /&gt;&lt;/SmartSettings&gt;">
                <a:extLst>
                  <a:ext uri="{FF2B5EF4-FFF2-40B4-BE49-F238E27FC236}">
                    <a16:creationId xmlns:a16="http://schemas.microsoft.com/office/drawing/2014/main" id="{368CF59C-58B5-4CF8-A6CB-12F170516476}"/>
                  </a:ext>
                </a:extLst>
              </p:cNvPr>
              <p:cNvSpPr>
                <a:spLocks noChangeAspect="1" noChangeArrowheads="1"/>
              </p:cNvSpPr>
              <p:nvPr userDrawn="1">
                <p:custDataLst>
                  <p:tags r:id="rId8"/>
                </p:custDataLst>
              </p:nvPr>
            </p:nvSpPr>
            <p:spPr bwMode="auto">
              <a:xfrm>
                <a:off x="6570603" y="1435596"/>
                <a:ext cx="70446" cy="925"/>
              </a:xfrm>
              <a:prstGeom prst="rect">
                <a:avLst/>
              </a:prstGeom>
              <a:solidFill>
                <a:srgbClr val="000000"/>
              </a:solidFill>
              <a:ln w="0">
                <a:noFill/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 sz="850">
                  <a:solidFill>
                    <a:srgbClr val="000000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64" name="Maximize" descr="&lt;SmartSettings&gt;&lt;SmartResize anchorLeft=&quot;None&quot; anchorTop=&quot;Absolute&quot; anchorRight=&quot;Absolute&quot; anchorBottom=&quot;None&quot; /&gt;&lt;/SmartSettings&gt;">
                <a:extLst>
                  <a:ext uri="{FF2B5EF4-FFF2-40B4-BE49-F238E27FC236}">
                    <a16:creationId xmlns:a16="http://schemas.microsoft.com/office/drawing/2014/main" id="{0E01F9AD-6384-4C57-B4DE-9C69BBAAED52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9"/>
                </p:custDataLst>
              </p:nvPr>
            </p:nvSpPr>
            <p:spPr bwMode="auto">
              <a:xfrm>
                <a:off x="6883862" y="1431617"/>
                <a:ext cx="68947" cy="8883"/>
              </a:xfrm>
              <a:custGeom>
                <a:avLst/>
                <a:gdLst>
                  <a:gd name="T0" fmla="*/ 0 w 282"/>
                  <a:gd name="T1" fmla="*/ 0 h 282"/>
                  <a:gd name="T2" fmla="*/ 0 w 282"/>
                  <a:gd name="T3" fmla="*/ 282 h 282"/>
                  <a:gd name="T4" fmla="*/ 282 w 282"/>
                  <a:gd name="T5" fmla="*/ 282 h 282"/>
                  <a:gd name="T6" fmla="*/ 282 w 282"/>
                  <a:gd name="T7" fmla="*/ 0 h 282"/>
                  <a:gd name="T8" fmla="*/ 0 w 282"/>
                  <a:gd name="T9" fmla="*/ 0 h 282"/>
                  <a:gd name="T10" fmla="*/ 28 w 282"/>
                  <a:gd name="T11" fmla="*/ 28 h 282"/>
                  <a:gd name="T12" fmla="*/ 254 w 282"/>
                  <a:gd name="T13" fmla="*/ 28 h 282"/>
                  <a:gd name="T14" fmla="*/ 254 w 282"/>
                  <a:gd name="T15" fmla="*/ 254 h 282"/>
                  <a:gd name="T16" fmla="*/ 28 w 282"/>
                  <a:gd name="T17" fmla="*/ 254 h 282"/>
                  <a:gd name="T18" fmla="*/ 28 w 282"/>
                  <a:gd name="T19" fmla="*/ 28 h 28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282" h="282">
                    <a:moveTo>
                      <a:pt x="0" y="0"/>
                    </a:moveTo>
                    <a:lnTo>
                      <a:pt x="0" y="282"/>
                    </a:lnTo>
                    <a:lnTo>
                      <a:pt x="282" y="282"/>
                    </a:lnTo>
                    <a:lnTo>
                      <a:pt x="282" y="0"/>
                    </a:lnTo>
                    <a:lnTo>
                      <a:pt x="0" y="0"/>
                    </a:lnTo>
                    <a:close/>
                    <a:moveTo>
                      <a:pt x="28" y="28"/>
                    </a:moveTo>
                    <a:lnTo>
                      <a:pt x="254" y="28"/>
                    </a:lnTo>
                    <a:lnTo>
                      <a:pt x="254" y="254"/>
                    </a:lnTo>
                    <a:lnTo>
                      <a:pt x="28" y="254"/>
                    </a:lnTo>
                    <a:lnTo>
                      <a:pt x="28" y="28"/>
                    </a:lnTo>
                    <a:close/>
                  </a:path>
                </a:pathLst>
              </a:custGeom>
              <a:solidFill>
                <a:srgbClr val="0000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 sz="850">
                  <a:solidFill>
                    <a:srgbClr val="000000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65" name="Close" descr="&lt;SmartSettings&gt;&lt;SmartResize anchorLeft=&quot;None&quot; anchorTop=&quot;Absolute&quot; anchorRight=&quot;Absolute&quot; anchorBottom=&quot;None&quot; /&gt;&lt;/SmartSettings&gt;">
                <a:extLst>
                  <a:ext uri="{FF2B5EF4-FFF2-40B4-BE49-F238E27FC236}">
                    <a16:creationId xmlns:a16="http://schemas.microsoft.com/office/drawing/2014/main" id="{8909B04E-1520-4178-B37F-EC07ACC6717D}"/>
                  </a:ext>
                </a:extLst>
              </p:cNvPr>
              <p:cNvSpPr>
                <a:spLocks noChangeAspect="1"/>
              </p:cNvSpPr>
              <p:nvPr userDrawn="1">
                <p:custDataLst>
                  <p:tags r:id="rId10"/>
                </p:custDataLst>
              </p:nvPr>
            </p:nvSpPr>
            <p:spPr bwMode="auto">
              <a:xfrm>
                <a:off x="7197121" y="1431433"/>
                <a:ext cx="70446" cy="9254"/>
              </a:xfrm>
              <a:custGeom>
                <a:avLst/>
                <a:gdLst>
                  <a:gd name="T0" fmla="*/ 3 w 47"/>
                  <a:gd name="T1" fmla="*/ 0 h 50"/>
                  <a:gd name="T2" fmla="*/ 0 w 47"/>
                  <a:gd name="T3" fmla="*/ 3 h 50"/>
                  <a:gd name="T4" fmla="*/ 20 w 47"/>
                  <a:gd name="T5" fmla="*/ 25 h 50"/>
                  <a:gd name="T6" fmla="*/ 0 w 47"/>
                  <a:gd name="T7" fmla="*/ 46 h 50"/>
                  <a:gd name="T8" fmla="*/ 3 w 47"/>
                  <a:gd name="T9" fmla="*/ 50 h 50"/>
                  <a:gd name="T10" fmla="*/ 23 w 47"/>
                  <a:gd name="T11" fmla="*/ 28 h 50"/>
                  <a:gd name="T12" fmla="*/ 44 w 47"/>
                  <a:gd name="T13" fmla="*/ 49 h 50"/>
                  <a:gd name="T14" fmla="*/ 47 w 47"/>
                  <a:gd name="T15" fmla="*/ 46 h 50"/>
                  <a:gd name="T16" fmla="*/ 27 w 47"/>
                  <a:gd name="T17" fmla="*/ 25 h 50"/>
                  <a:gd name="T18" fmla="*/ 47 w 47"/>
                  <a:gd name="T19" fmla="*/ 3 h 50"/>
                  <a:gd name="T20" fmla="*/ 44 w 47"/>
                  <a:gd name="T21" fmla="*/ 0 h 50"/>
                  <a:gd name="T22" fmla="*/ 24 w 47"/>
                  <a:gd name="T23" fmla="*/ 21 h 50"/>
                  <a:gd name="T24" fmla="*/ 3 w 47"/>
                  <a:gd name="T25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47" h="50">
                    <a:moveTo>
                      <a:pt x="3" y="0"/>
                    </a:moveTo>
                    <a:lnTo>
                      <a:pt x="0" y="3"/>
                    </a:lnTo>
                    <a:lnTo>
                      <a:pt x="20" y="25"/>
                    </a:lnTo>
                    <a:lnTo>
                      <a:pt x="0" y="46"/>
                    </a:lnTo>
                    <a:lnTo>
                      <a:pt x="3" y="50"/>
                    </a:lnTo>
                    <a:lnTo>
                      <a:pt x="23" y="28"/>
                    </a:lnTo>
                    <a:lnTo>
                      <a:pt x="44" y="49"/>
                    </a:lnTo>
                    <a:lnTo>
                      <a:pt x="47" y="46"/>
                    </a:lnTo>
                    <a:lnTo>
                      <a:pt x="27" y="25"/>
                    </a:lnTo>
                    <a:lnTo>
                      <a:pt x="47" y="3"/>
                    </a:lnTo>
                    <a:lnTo>
                      <a:pt x="44" y="0"/>
                    </a:lnTo>
                    <a:lnTo>
                      <a:pt x="24" y="21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000000"/>
              </a:solidFill>
              <a:ln w="9525">
                <a:noFill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 sz="850">
                  <a:solidFill>
                    <a:srgbClr val="000000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  <p:sp>
          <p:nvSpPr>
            <p:cNvPr id="61" name="Window Frame" descr="&lt;SmartSettings&gt;&lt;SmartResize anchorLeft=&quot;Absolute&quot; anchorTop=&quot;Absolute&quot; anchorRight=&quot;Absolute&quot; anchorBottom=&quot;Absolute&quot; /&gt;&lt;/SmartSettings&gt;">
              <a:extLst>
                <a:ext uri="{FF2B5EF4-FFF2-40B4-BE49-F238E27FC236}">
                  <a16:creationId xmlns:a16="http://schemas.microsoft.com/office/drawing/2014/main" id="{09BAC544-82CB-4613-AF2C-9C9033A1392A}"/>
                </a:ext>
              </a:extLst>
            </p:cNvPr>
            <p:cNvSpPr/>
            <p:nvPr userDrawn="1">
              <p:custDataLst>
                <p:tags r:id="rId6"/>
              </p:custDataLst>
            </p:nvPr>
          </p:nvSpPr>
          <p:spPr>
            <a:xfrm>
              <a:off x="660249" y="1104551"/>
              <a:ext cx="6453531" cy="4963332"/>
            </a:xfrm>
            <a:prstGeom prst="rect">
              <a:avLst/>
            </a:prstGeom>
            <a:noFill/>
            <a:ln w="6350">
              <a:solidFill>
                <a:schemeClr val="tx1">
                  <a:lumMod val="50000"/>
                  <a:lumOff val="50000"/>
                </a:schemeClr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54864" rtlCol="0" anchor="t" anchorCtr="0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680" dirty="0">
                <a:solidFill>
                  <a:srgbClr val="000000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66" name="그룹 65">
            <a:extLst>
              <a:ext uri="{FF2B5EF4-FFF2-40B4-BE49-F238E27FC236}">
                <a16:creationId xmlns:a16="http://schemas.microsoft.com/office/drawing/2014/main" id="{E938F296-3CBB-4AEF-BFAD-8D6B891847A7}"/>
              </a:ext>
            </a:extLst>
          </p:cNvPr>
          <p:cNvGrpSpPr/>
          <p:nvPr/>
        </p:nvGrpSpPr>
        <p:grpSpPr>
          <a:xfrm>
            <a:off x="172496" y="1034019"/>
            <a:ext cx="388720" cy="200055"/>
            <a:chOff x="4727047" y="5307508"/>
            <a:chExt cx="388720" cy="200055"/>
          </a:xfrm>
        </p:grpSpPr>
        <p:sp>
          <p:nvSpPr>
            <p:cNvPr id="67" name="타원 66">
              <a:extLst>
                <a:ext uri="{FF2B5EF4-FFF2-40B4-BE49-F238E27FC236}">
                  <a16:creationId xmlns:a16="http://schemas.microsoft.com/office/drawing/2014/main" id="{9CD74E47-13E3-4B6E-9061-F5831E4DE6D0}"/>
                </a:ext>
              </a:extLst>
            </p:cNvPr>
            <p:cNvSpPr/>
            <p:nvPr/>
          </p:nvSpPr>
          <p:spPr>
            <a:xfrm>
              <a:off x="4831407" y="5317535"/>
              <a:ext cx="180000" cy="180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>
              <a:glow rad="50800">
                <a:srgbClr val="FF0000">
                  <a:alpha val="30000"/>
                </a:srgbClr>
              </a:glow>
              <a:softEdge rad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sz="900"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  <p:sp>
          <p:nvSpPr>
            <p:cNvPr id="68" name="TextBox 27">
              <a:extLst>
                <a:ext uri="{FF2B5EF4-FFF2-40B4-BE49-F238E27FC236}">
                  <a16:creationId xmlns:a16="http://schemas.microsoft.com/office/drawing/2014/main" id="{382B27B6-00DC-45EC-AF1D-FB3E028F928C}"/>
                </a:ext>
              </a:extLst>
            </p:cNvPr>
            <p:cNvSpPr txBox="1"/>
            <p:nvPr/>
          </p:nvSpPr>
          <p:spPr>
            <a:xfrm>
              <a:off x="4727047" y="5307508"/>
              <a:ext cx="38872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700" b="1" dirty="0">
                  <a:solidFill>
                    <a:schemeClr val="bg1"/>
                  </a:solidFill>
                  <a:latin typeface="나눔고딕" panose="020D0604000000000000" pitchFamily="50" charset="-127"/>
                  <a:ea typeface="나눔고딕" panose="020D0604000000000000" pitchFamily="50" charset="-127"/>
                </a:rPr>
                <a:t>2</a:t>
              </a:r>
              <a:endPara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</p:grpSp>
      <p:cxnSp>
        <p:nvCxnSpPr>
          <p:cNvPr id="69" name="직선 연결선 68">
            <a:extLst>
              <a:ext uri="{FF2B5EF4-FFF2-40B4-BE49-F238E27FC236}">
                <a16:creationId xmlns:a16="http://schemas.microsoft.com/office/drawing/2014/main" id="{9F7ADFB7-FFB8-42CC-B91C-FE4B30FC664E}"/>
              </a:ext>
            </a:extLst>
          </p:cNvPr>
          <p:cNvCxnSpPr/>
          <p:nvPr/>
        </p:nvCxnSpPr>
        <p:spPr>
          <a:xfrm flipH="1">
            <a:off x="107504" y="492497"/>
            <a:ext cx="6784334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0" name="Scrollbar" descr="&lt;SmartSettings&gt;&lt;SmartResize enabled=&quot;True&quot; minWidth=&quot;4.5&quot; minHeight=&quot;18&quot; /&gt;&lt;/SmartSettings&gt;">
            <a:extLst>
              <a:ext uri="{FF2B5EF4-FFF2-40B4-BE49-F238E27FC236}">
                <a16:creationId xmlns:a16="http://schemas.microsoft.com/office/drawing/2014/main" id="{5865A340-0382-41FE-815A-BE61AB163ACE}"/>
              </a:ext>
            </a:extLst>
          </p:cNvPr>
          <p:cNvGrpSpPr/>
          <p:nvPr>
            <p:custDataLst>
              <p:tags r:id="rId2"/>
            </p:custDataLst>
          </p:nvPr>
        </p:nvGrpSpPr>
        <p:grpSpPr>
          <a:xfrm>
            <a:off x="6791075" y="512770"/>
            <a:ext cx="85725" cy="5004000"/>
            <a:chOff x="5794310" y="1229599"/>
            <a:chExt cx="85725" cy="2743200"/>
          </a:xfrm>
        </p:grpSpPr>
        <p:sp>
          <p:nvSpPr>
            <p:cNvPr id="71" name="Track">
              <a:extLst>
                <a:ext uri="{FF2B5EF4-FFF2-40B4-BE49-F238E27FC236}">
                  <a16:creationId xmlns:a16="http://schemas.microsoft.com/office/drawing/2014/main" id="{27F16E21-35AB-426E-B230-36413C902A8D}"/>
                </a:ext>
              </a:extLst>
            </p:cNvPr>
            <p:cNvSpPr/>
            <p:nvPr/>
          </p:nvSpPr>
          <p:spPr>
            <a:xfrm>
              <a:off x="5794310" y="1229599"/>
              <a:ext cx="85725" cy="274320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850">
                <a:solidFill>
                  <a:srgbClr val="000000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2" name="Thumb" descr="&lt;SmartSettings&gt;&lt;SmartResize anchorLeft=&quot;Absolute&quot; anchorTop=&quot;Absolute&quot; anchorRight=&quot;Absolute&quot; anchorBottom=&quot;Relative&quot; /&gt;&lt;/SmartSettings&gt;">
              <a:extLst>
                <a:ext uri="{FF2B5EF4-FFF2-40B4-BE49-F238E27FC236}">
                  <a16:creationId xmlns:a16="http://schemas.microsoft.com/office/drawing/2014/main" id="{1EE7E916-676D-4FDA-8BEE-85757E940E57}"/>
                </a:ext>
              </a:extLst>
            </p:cNvPr>
            <p:cNvSpPr/>
            <p:nvPr>
              <p:custDataLst>
                <p:tags r:id="rId3"/>
              </p:custDataLst>
            </p:nvPr>
          </p:nvSpPr>
          <p:spPr>
            <a:xfrm>
              <a:off x="5794310" y="1276592"/>
              <a:ext cx="85725" cy="1668382"/>
            </a:xfrm>
            <a:prstGeom prst="rect">
              <a:avLst/>
            </a:prstGeom>
            <a:solidFill>
              <a:srgbClr val="C2C2C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850">
                <a:solidFill>
                  <a:srgbClr val="000000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3" name="Arrow Up" descr="&lt;SmartSettings&gt;&lt;SmartResize anchorLeft=&quot;None&quot; anchorTop=&quot;Absolute&quot; anchorRight=&quot;None&quot; anchorBottom=&quot;None&quot; /&gt;&lt;/SmartSettings&gt;">
              <a:extLst>
                <a:ext uri="{FF2B5EF4-FFF2-40B4-BE49-F238E27FC236}">
                  <a16:creationId xmlns:a16="http://schemas.microsoft.com/office/drawing/2014/main" id="{10C97E80-C5E5-4232-A5A1-52A138E5973C}"/>
                </a:ext>
              </a:extLst>
            </p:cNvPr>
            <p:cNvSpPr>
              <a:spLocks noChangeAspect="1"/>
            </p:cNvSpPr>
            <p:nvPr>
              <p:custDataLst>
                <p:tags r:id="rId4"/>
              </p:custDataLst>
            </p:nvPr>
          </p:nvSpPr>
          <p:spPr bwMode="auto">
            <a:xfrm>
              <a:off x="5808597" y="1244393"/>
              <a:ext cx="57150" cy="17405"/>
            </a:xfrm>
            <a:custGeom>
              <a:avLst/>
              <a:gdLst>
                <a:gd name="T0" fmla="*/ 205 w 205"/>
                <a:gd name="T1" fmla="*/ 94 h 116"/>
                <a:gd name="T2" fmla="*/ 103 w 205"/>
                <a:gd name="T3" fmla="*/ 0 h 116"/>
                <a:gd name="T4" fmla="*/ 0 w 205"/>
                <a:gd name="T5" fmla="*/ 94 h 116"/>
                <a:gd name="T6" fmla="*/ 20 w 205"/>
                <a:gd name="T7" fmla="*/ 116 h 116"/>
                <a:gd name="T8" fmla="*/ 103 w 205"/>
                <a:gd name="T9" fmla="*/ 39 h 116"/>
                <a:gd name="T10" fmla="*/ 187 w 205"/>
                <a:gd name="T11" fmla="*/ 116 h 116"/>
                <a:gd name="T12" fmla="*/ 205 w 205"/>
                <a:gd name="T13" fmla="*/ 94 h 1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05" h="116">
                  <a:moveTo>
                    <a:pt x="205" y="94"/>
                  </a:moveTo>
                  <a:cubicBezTo>
                    <a:pt x="171" y="63"/>
                    <a:pt x="137" y="31"/>
                    <a:pt x="103" y="0"/>
                  </a:cubicBezTo>
                  <a:cubicBezTo>
                    <a:pt x="69" y="31"/>
                    <a:pt x="35" y="63"/>
                    <a:pt x="0" y="94"/>
                  </a:cubicBezTo>
                  <a:lnTo>
                    <a:pt x="20" y="116"/>
                  </a:lnTo>
                  <a:lnTo>
                    <a:pt x="103" y="39"/>
                  </a:lnTo>
                  <a:lnTo>
                    <a:pt x="187" y="116"/>
                  </a:lnTo>
                  <a:lnTo>
                    <a:pt x="205" y="94"/>
                  </a:lnTo>
                  <a:close/>
                </a:path>
              </a:pathLst>
            </a:custGeom>
            <a:solidFill>
              <a:srgbClr val="999999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850">
                <a:solidFill>
                  <a:srgbClr val="000000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4" name="Arrow Down" descr="&lt;SmartSettings&gt;&lt;SmartResize anchorLeft=&quot;None&quot; anchorTop=&quot;None&quot; anchorRight=&quot;None&quot; anchorBottom=&quot;Absolute&quot; /&gt;&lt;/SmartSettings&gt;">
              <a:extLst>
                <a:ext uri="{FF2B5EF4-FFF2-40B4-BE49-F238E27FC236}">
                  <a16:creationId xmlns:a16="http://schemas.microsoft.com/office/drawing/2014/main" id="{8E8DC1AD-272A-40A2-8685-30B55776079C}"/>
                </a:ext>
              </a:extLst>
            </p:cNvPr>
            <p:cNvSpPr>
              <a:spLocks noChangeAspect="1"/>
            </p:cNvSpPr>
            <p:nvPr>
              <p:custDataLst>
                <p:tags r:id="rId5"/>
              </p:custDataLst>
            </p:nvPr>
          </p:nvSpPr>
          <p:spPr bwMode="auto">
            <a:xfrm>
              <a:off x="5808597" y="3940598"/>
              <a:ext cx="57150" cy="17405"/>
            </a:xfrm>
            <a:custGeom>
              <a:avLst/>
              <a:gdLst>
                <a:gd name="T0" fmla="*/ 0 w 205"/>
                <a:gd name="T1" fmla="*/ 22 h 116"/>
                <a:gd name="T2" fmla="*/ 102 w 205"/>
                <a:gd name="T3" fmla="*/ 116 h 116"/>
                <a:gd name="T4" fmla="*/ 205 w 205"/>
                <a:gd name="T5" fmla="*/ 22 h 116"/>
                <a:gd name="T6" fmla="*/ 185 w 205"/>
                <a:gd name="T7" fmla="*/ 0 h 116"/>
                <a:gd name="T8" fmla="*/ 102 w 205"/>
                <a:gd name="T9" fmla="*/ 77 h 116"/>
                <a:gd name="T10" fmla="*/ 18 w 205"/>
                <a:gd name="T11" fmla="*/ 0 h 116"/>
                <a:gd name="T12" fmla="*/ 0 w 205"/>
                <a:gd name="T13" fmla="*/ 22 h 1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05" h="116">
                  <a:moveTo>
                    <a:pt x="0" y="22"/>
                  </a:moveTo>
                  <a:cubicBezTo>
                    <a:pt x="34" y="53"/>
                    <a:pt x="68" y="85"/>
                    <a:pt x="102" y="116"/>
                  </a:cubicBezTo>
                  <a:cubicBezTo>
                    <a:pt x="136" y="85"/>
                    <a:pt x="170" y="53"/>
                    <a:pt x="205" y="22"/>
                  </a:cubicBezTo>
                  <a:lnTo>
                    <a:pt x="185" y="0"/>
                  </a:lnTo>
                  <a:lnTo>
                    <a:pt x="102" y="77"/>
                  </a:lnTo>
                  <a:lnTo>
                    <a:pt x="18" y="0"/>
                  </a:lnTo>
                  <a:lnTo>
                    <a:pt x="0" y="22"/>
                  </a:lnTo>
                  <a:close/>
                </a:path>
              </a:pathLst>
            </a:custGeom>
            <a:solidFill>
              <a:srgbClr val="999999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850">
                <a:solidFill>
                  <a:srgbClr val="000000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75" name="그룹 74">
            <a:extLst>
              <a:ext uri="{FF2B5EF4-FFF2-40B4-BE49-F238E27FC236}">
                <a16:creationId xmlns:a16="http://schemas.microsoft.com/office/drawing/2014/main" id="{E72C7ECF-8CF7-44B1-8166-B55C9AFC91B8}"/>
              </a:ext>
            </a:extLst>
          </p:cNvPr>
          <p:cNvGrpSpPr/>
          <p:nvPr/>
        </p:nvGrpSpPr>
        <p:grpSpPr>
          <a:xfrm>
            <a:off x="2411760" y="646711"/>
            <a:ext cx="388720" cy="200055"/>
            <a:chOff x="4727047" y="5307508"/>
            <a:chExt cx="388720" cy="200055"/>
          </a:xfrm>
        </p:grpSpPr>
        <p:sp>
          <p:nvSpPr>
            <p:cNvPr id="76" name="타원 75">
              <a:extLst>
                <a:ext uri="{FF2B5EF4-FFF2-40B4-BE49-F238E27FC236}">
                  <a16:creationId xmlns:a16="http://schemas.microsoft.com/office/drawing/2014/main" id="{FFE9A7B6-65D4-4244-A87B-7E569FE8A425}"/>
                </a:ext>
              </a:extLst>
            </p:cNvPr>
            <p:cNvSpPr/>
            <p:nvPr/>
          </p:nvSpPr>
          <p:spPr>
            <a:xfrm>
              <a:off x="4831407" y="5317535"/>
              <a:ext cx="180000" cy="180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>
              <a:glow rad="50800">
                <a:srgbClr val="FF0000">
                  <a:alpha val="30000"/>
                </a:srgbClr>
              </a:glow>
              <a:softEdge rad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sz="900"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  <p:sp>
          <p:nvSpPr>
            <p:cNvPr id="77" name="TextBox 27">
              <a:extLst>
                <a:ext uri="{FF2B5EF4-FFF2-40B4-BE49-F238E27FC236}">
                  <a16:creationId xmlns:a16="http://schemas.microsoft.com/office/drawing/2014/main" id="{A279F73A-952D-4D91-80D6-A9A746857074}"/>
                </a:ext>
              </a:extLst>
            </p:cNvPr>
            <p:cNvSpPr txBox="1"/>
            <p:nvPr/>
          </p:nvSpPr>
          <p:spPr>
            <a:xfrm>
              <a:off x="4727047" y="5307508"/>
              <a:ext cx="38872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700" b="1" dirty="0">
                  <a:solidFill>
                    <a:schemeClr val="bg1"/>
                  </a:solidFill>
                  <a:latin typeface="나눔고딕" panose="020D0604000000000000" pitchFamily="50" charset="-127"/>
                  <a:ea typeface="나눔고딕" panose="020D0604000000000000" pitchFamily="50" charset="-127"/>
                </a:rPr>
                <a:t>1</a:t>
              </a:r>
              <a:endPara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</p:grpSp>
      <p:grpSp>
        <p:nvGrpSpPr>
          <p:cNvPr id="78" name="그룹 77">
            <a:extLst>
              <a:ext uri="{FF2B5EF4-FFF2-40B4-BE49-F238E27FC236}">
                <a16:creationId xmlns:a16="http://schemas.microsoft.com/office/drawing/2014/main" id="{C002215C-48AC-48BF-A5CE-762ECA316344}"/>
              </a:ext>
            </a:extLst>
          </p:cNvPr>
          <p:cNvGrpSpPr/>
          <p:nvPr/>
        </p:nvGrpSpPr>
        <p:grpSpPr>
          <a:xfrm>
            <a:off x="1403648" y="1189179"/>
            <a:ext cx="388720" cy="200055"/>
            <a:chOff x="4727047" y="5307508"/>
            <a:chExt cx="388720" cy="200055"/>
          </a:xfrm>
        </p:grpSpPr>
        <p:sp>
          <p:nvSpPr>
            <p:cNvPr id="79" name="타원 78">
              <a:extLst>
                <a:ext uri="{FF2B5EF4-FFF2-40B4-BE49-F238E27FC236}">
                  <a16:creationId xmlns:a16="http://schemas.microsoft.com/office/drawing/2014/main" id="{99167820-1D25-468E-82A0-9E343CFBF6F3}"/>
                </a:ext>
              </a:extLst>
            </p:cNvPr>
            <p:cNvSpPr/>
            <p:nvPr/>
          </p:nvSpPr>
          <p:spPr>
            <a:xfrm>
              <a:off x="4831407" y="5317535"/>
              <a:ext cx="180000" cy="180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>
              <a:glow rad="50800">
                <a:srgbClr val="FF0000">
                  <a:alpha val="30000"/>
                </a:srgbClr>
              </a:glow>
              <a:softEdge rad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sz="900"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  <p:sp>
          <p:nvSpPr>
            <p:cNvPr id="80" name="TextBox 27">
              <a:extLst>
                <a:ext uri="{FF2B5EF4-FFF2-40B4-BE49-F238E27FC236}">
                  <a16:creationId xmlns:a16="http://schemas.microsoft.com/office/drawing/2014/main" id="{D62C52A9-0388-4CAD-9D81-A684F5C092F6}"/>
                </a:ext>
              </a:extLst>
            </p:cNvPr>
            <p:cNvSpPr txBox="1"/>
            <p:nvPr/>
          </p:nvSpPr>
          <p:spPr>
            <a:xfrm>
              <a:off x="4727047" y="5307508"/>
              <a:ext cx="38872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700" b="1" dirty="0">
                  <a:solidFill>
                    <a:schemeClr val="bg1"/>
                  </a:solidFill>
                  <a:latin typeface="나눔고딕" panose="020D0604000000000000" pitchFamily="50" charset="-127"/>
                  <a:ea typeface="나눔고딕" panose="020D0604000000000000" pitchFamily="50" charset="-127"/>
                </a:rPr>
                <a:t>3</a:t>
              </a:r>
              <a:endPara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</p:grpSp>
      <p:grpSp>
        <p:nvGrpSpPr>
          <p:cNvPr id="81" name="그룹 80">
            <a:extLst>
              <a:ext uri="{FF2B5EF4-FFF2-40B4-BE49-F238E27FC236}">
                <a16:creationId xmlns:a16="http://schemas.microsoft.com/office/drawing/2014/main" id="{65A42663-E527-4998-B98C-C9C39CE7510E}"/>
              </a:ext>
            </a:extLst>
          </p:cNvPr>
          <p:cNvGrpSpPr/>
          <p:nvPr/>
        </p:nvGrpSpPr>
        <p:grpSpPr>
          <a:xfrm>
            <a:off x="1403648" y="1512475"/>
            <a:ext cx="388720" cy="200055"/>
            <a:chOff x="4727047" y="5307508"/>
            <a:chExt cx="388720" cy="200055"/>
          </a:xfrm>
        </p:grpSpPr>
        <p:sp>
          <p:nvSpPr>
            <p:cNvPr id="82" name="타원 81">
              <a:extLst>
                <a:ext uri="{FF2B5EF4-FFF2-40B4-BE49-F238E27FC236}">
                  <a16:creationId xmlns:a16="http://schemas.microsoft.com/office/drawing/2014/main" id="{BA6D0ECE-AFF8-4D31-A9A1-EFCD71CD50B1}"/>
                </a:ext>
              </a:extLst>
            </p:cNvPr>
            <p:cNvSpPr/>
            <p:nvPr/>
          </p:nvSpPr>
          <p:spPr>
            <a:xfrm>
              <a:off x="4831407" y="5317535"/>
              <a:ext cx="180000" cy="180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>
              <a:glow rad="50800">
                <a:srgbClr val="FF0000">
                  <a:alpha val="30000"/>
                </a:srgbClr>
              </a:glow>
              <a:softEdge rad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sz="900"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  <p:sp>
          <p:nvSpPr>
            <p:cNvPr id="83" name="TextBox 27">
              <a:extLst>
                <a:ext uri="{FF2B5EF4-FFF2-40B4-BE49-F238E27FC236}">
                  <a16:creationId xmlns:a16="http://schemas.microsoft.com/office/drawing/2014/main" id="{1B745909-4DFC-4FAB-B1EB-C83E5540A97C}"/>
                </a:ext>
              </a:extLst>
            </p:cNvPr>
            <p:cNvSpPr txBox="1"/>
            <p:nvPr/>
          </p:nvSpPr>
          <p:spPr>
            <a:xfrm>
              <a:off x="4727047" y="5307508"/>
              <a:ext cx="38872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700" b="1" dirty="0">
                  <a:solidFill>
                    <a:schemeClr val="bg1"/>
                  </a:solidFill>
                  <a:latin typeface="나눔고딕" panose="020D0604000000000000" pitchFamily="50" charset="-127"/>
                  <a:ea typeface="나눔고딕" panose="020D0604000000000000" pitchFamily="50" charset="-127"/>
                </a:rPr>
                <a:t>4</a:t>
              </a:r>
              <a:endPara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</p:grpSp>
      <p:grpSp>
        <p:nvGrpSpPr>
          <p:cNvPr id="84" name="그룹 83">
            <a:extLst>
              <a:ext uri="{FF2B5EF4-FFF2-40B4-BE49-F238E27FC236}">
                <a16:creationId xmlns:a16="http://schemas.microsoft.com/office/drawing/2014/main" id="{69CF5B0C-DDDA-42FD-9794-EAD4E6F635E8}"/>
              </a:ext>
            </a:extLst>
          </p:cNvPr>
          <p:cNvGrpSpPr/>
          <p:nvPr/>
        </p:nvGrpSpPr>
        <p:grpSpPr>
          <a:xfrm>
            <a:off x="1403648" y="2193128"/>
            <a:ext cx="388720" cy="200055"/>
            <a:chOff x="4727047" y="5307508"/>
            <a:chExt cx="388720" cy="200055"/>
          </a:xfrm>
        </p:grpSpPr>
        <p:sp>
          <p:nvSpPr>
            <p:cNvPr id="85" name="타원 84">
              <a:extLst>
                <a:ext uri="{FF2B5EF4-FFF2-40B4-BE49-F238E27FC236}">
                  <a16:creationId xmlns:a16="http://schemas.microsoft.com/office/drawing/2014/main" id="{7C09F33C-0CAA-4608-8E46-2B8586D264A3}"/>
                </a:ext>
              </a:extLst>
            </p:cNvPr>
            <p:cNvSpPr/>
            <p:nvPr/>
          </p:nvSpPr>
          <p:spPr>
            <a:xfrm>
              <a:off x="4831407" y="5317535"/>
              <a:ext cx="180000" cy="180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>
              <a:glow rad="50800">
                <a:srgbClr val="FF0000">
                  <a:alpha val="30000"/>
                </a:srgbClr>
              </a:glow>
              <a:softEdge rad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sz="900"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  <p:sp>
          <p:nvSpPr>
            <p:cNvPr id="86" name="TextBox 27">
              <a:extLst>
                <a:ext uri="{FF2B5EF4-FFF2-40B4-BE49-F238E27FC236}">
                  <a16:creationId xmlns:a16="http://schemas.microsoft.com/office/drawing/2014/main" id="{C5DD1A93-8C0C-4203-8F86-A0A69CAB375F}"/>
                </a:ext>
              </a:extLst>
            </p:cNvPr>
            <p:cNvSpPr txBox="1"/>
            <p:nvPr/>
          </p:nvSpPr>
          <p:spPr>
            <a:xfrm>
              <a:off x="4727047" y="5307508"/>
              <a:ext cx="38872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700" b="1" dirty="0">
                  <a:solidFill>
                    <a:schemeClr val="bg1"/>
                  </a:solidFill>
                  <a:latin typeface="나눔고딕" panose="020D0604000000000000" pitchFamily="50" charset="-127"/>
                  <a:ea typeface="나눔고딕" panose="020D0604000000000000" pitchFamily="50" charset="-127"/>
                </a:rPr>
                <a:t>5</a:t>
              </a:r>
              <a:endPara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</p:grpSp>
      <p:grpSp>
        <p:nvGrpSpPr>
          <p:cNvPr id="87" name="그룹 86">
            <a:extLst>
              <a:ext uri="{FF2B5EF4-FFF2-40B4-BE49-F238E27FC236}">
                <a16:creationId xmlns:a16="http://schemas.microsoft.com/office/drawing/2014/main" id="{8AE5372E-37E4-4EFE-9E9A-3D9F44321368}"/>
              </a:ext>
            </a:extLst>
          </p:cNvPr>
          <p:cNvGrpSpPr/>
          <p:nvPr/>
        </p:nvGrpSpPr>
        <p:grpSpPr>
          <a:xfrm>
            <a:off x="3779912" y="5452006"/>
            <a:ext cx="388720" cy="200055"/>
            <a:chOff x="4727047" y="5307508"/>
            <a:chExt cx="388720" cy="200055"/>
          </a:xfrm>
        </p:grpSpPr>
        <p:sp>
          <p:nvSpPr>
            <p:cNvPr id="88" name="타원 87">
              <a:extLst>
                <a:ext uri="{FF2B5EF4-FFF2-40B4-BE49-F238E27FC236}">
                  <a16:creationId xmlns:a16="http://schemas.microsoft.com/office/drawing/2014/main" id="{8B076208-1E0D-4BBF-A65C-9C03D4538C23}"/>
                </a:ext>
              </a:extLst>
            </p:cNvPr>
            <p:cNvSpPr/>
            <p:nvPr/>
          </p:nvSpPr>
          <p:spPr>
            <a:xfrm>
              <a:off x="4831407" y="5317535"/>
              <a:ext cx="180000" cy="180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>
              <a:glow rad="50800">
                <a:srgbClr val="FF0000">
                  <a:alpha val="30000"/>
                </a:srgbClr>
              </a:glow>
              <a:softEdge rad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sz="900"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  <p:sp>
          <p:nvSpPr>
            <p:cNvPr id="89" name="TextBox 27">
              <a:extLst>
                <a:ext uri="{FF2B5EF4-FFF2-40B4-BE49-F238E27FC236}">
                  <a16:creationId xmlns:a16="http://schemas.microsoft.com/office/drawing/2014/main" id="{1B92943C-60F3-428E-B2EE-6FDBC5E55BF6}"/>
                </a:ext>
              </a:extLst>
            </p:cNvPr>
            <p:cNvSpPr txBox="1"/>
            <p:nvPr/>
          </p:nvSpPr>
          <p:spPr>
            <a:xfrm>
              <a:off x="4727047" y="5307508"/>
              <a:ext cx="38872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700" b="1" dirty="0">
                  <a:solidFill>
                    <a:schemeClr val="bg1"/>
                  </a:solidFill>
                  <a:latin typeface="나눔고딕" panose="020D0604000000000000" pitchFamily="50" charset="-127"/>
                  <a:ea typeface="나눔고딕" panose="020D0604000000000000" pitchFamily="50" charset="-127"/>
                </a:rPr>
                <a:t>6</a:t>
              </a:r>
              <a:endPara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</p:grpSp>
      <p:sp>
        <p:nvSpPr>
          <p:cNvPr id="91" name="TextBox 90">
            <a:extLst>
              <a:ext uri="{FF2B5EF4-FFF2-40B4-BE49-F238E27FC236}">
                <a16:creationId xmlns:a16="http://schemas.microsoft.com/office/drawing/2014/main" id="{3669275D-8D8B-4A36-A5C8-1D8DF856B5AB}"/>
              </a:ext>
            </a:extLst>
          </p:cNvPr>
          <p:cNvSpPr txBox="1"/>
          <p:nvPr/>
        </p:nvSpPr>
        <p:spPr>
          <a:xfrm>
            <a:off x="264479" y="4548857"/>
            <a:ext cx="152657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스토리보드</a:t>
            </a:r>
            <a:endParaRPr lang="en-US" altLang="ko-KR" sz="1400" dirty="0">
              <a:solidFill>
                <a:schemeClr val="bg1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92" name="직사각형 91">
            <a:extLst>
              <a:ext uri="{FF2B5EF4-FFF2-40B4-BE49-F238E27FC236}">
                <a16:creationId xmlns:a16="http://schemas.microsoft.com/office/drawing/2014/main" id="{7580C37D-C5BC-49C0-AC4F-EB7156D9082A}"/>
              </a:ext>
            </a:extLst>
          </p:cNvPr>
          <p:cNvSpPr/>
          <p:nvPr/>
        </p:nvSpPr>
        <p:spPr>
          <a:xfrm>
            <a:off x="1605666" y="4563218"/>
            <a:ext cx="6834472" cy="25545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-  </a:t>
            </a:r>
            <a:r>
              <a:rPr lang="en-US" altLang="ko-KR" sz="8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PC </a:t>
            </a:r>
            <a:r>
              <a:rPr lang="ko-KR" altLang="en-US" sz="8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웹 기획</a:t>
            </a:r>
            <a:r>
              <a:rPr lang="en-US" altLang="ko-KR" sz="8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  |   </a:t>
            </a:r>
            <a:r>
              <a:rPr lang="ko-KR" altLang="en-US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스토리보드는 </a:t>
            </a:r>
            <a:r>
              <a:rPr lang="en-US" altLang="ko-KR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UI(User Interface)</a:t>
            </a:r>
            <a:r>
              <a:rPr lang="ko-KR" altLang="en-US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라고 불리우는 서비스의 화면을 설계하고 실제 작업자에게 작업할 사항을 전달하는 문서입니다</a:t>
            </a:r>
            <a:r>
              <a:rPr lang="en-US" altLang="ko-KR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</a:t>
            </a:r>
          </a:p>
        </p:txBody>
      </p:sp>
      <p:sp>
        <p:nvSpPr>
          <p:cNvPr id="93" name="직사각형 92">
            <a:extLst>
              <a:ext uri="{FF2B5EF4-FFF2-40B4-BE49-F238E27FC236}">
                <a16:creationId xmlns:a16="http://schemas.microsoft.com/office/drawing/2014/main" id="{5F867001-A216-422D-87D4-75179B1D7F37}"/>
              </a:ext>
            </a:extLst>
          </p:cNvPr>
          <p:cNvSpPr/>
          <p:nvPr/>
        </p:nvSpPr>
        <p:spPr>
          <a:xfrm>
            <a:off x="257370" y="4867392"/>
            <a:ext cx="8563102" cy="4154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PC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웹 또한 마찬가지로 와이어 프레임 형태로 기획서를 작성합니다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 </a:t>
            </a:r>
          </a:p>
          <a:p>
            <a:pPr>
              <a:lnSpc>
                <a:spcPct val="150000"/>
              </a:lnSpc>
            </a:pP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기획서 토대로 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UX(User Experience)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에 맞춰 디자인을 하며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, 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기획서와 구성요소는 같으나 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UI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가 변경되는 경우 개발에 이해를 돕기 위해 디자인 된 화면을 토대로 기획서를 다시 작성할 수 있습니다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 </a:t>
            </a:r>
          </a:p>
        </p:txBody>
      </p:sp>
      <p:pic>
        <p:nvPicPr>
          <p:cNvPr id="94" name="그래픽 93">
            <a:extLst>
              <a:ext uri="{FF2B5EF4-FFF2-40B4-BE49-F238E27FC236}">
                <a16:creationId xmlns:a16="http://schemas.microsoft.com/office/drawing/2014/main" id="{50D35960-2C06-45AA-A6F7-1BBCE5ECB65E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1291670" y="4625863"/>
            <a:ext cx="226966" cy="1721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6358042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YNCVjCPV1IzMKXKl9/fgBjVQoFrENqHg4RSYVydCDrE=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1La62eH0klTn4mRbYpIS0mKjIcnNm0nnu8iBNsuark=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YNCVjCPV1IzMKXKl9/fgBjVQoFrENqHg4RSYVydCDrE=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eTlcZC8dv6qUg8uwGhFVuk2dyGOK09EyYw7znF4XrDo=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8QuzPSC+JOF1W/FyYc13l7A/YWm0CToMdNxJKtYnkf8=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htqbMyMSA0D2yMasrw9mgni6b3DpYxxK9j33Y/9Sb0Q=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3Koezp0l3A49TMn/FcGOwjA2sdgY4HBEe4T/h6Lf3o=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ZU/W0IqlvXPkJ37/hSWg5jSIFh0KZmI7sT1syyiYH8=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SB3bqgv5ghGJknk/m+/9EdPMDkanH9eNosaoBtCx42Q=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scEFkRiZvbxLfN1YzQGPp4nKBgtuPrjp3QiTCcMWwM=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scEFkRiZvbxLfN1YzQGPp4nKBgtuPrjp3QiTCcMWwM=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scEFkRiZvbxLfN1YzQGPp4nKBgtuPrjp3QiTCcMWwM="/>
</p:tagLst>
</file>

<file path=ppt/theme/theme1.xml><?xml version="1.0" encoding="utf-8"?>
<a:theme xmlns:a="http://schemas.openxmlformats.org/drawingml/2006/main" name="Office 테마">
  <a:themeElements>
    <a:clrScheme name="수평선">
      <a:dk1>
        <a:srgbClr val="000000"/>
      </a:dk1>
      <a:lt1>
        <a:srgbClr val="FFFFFF"/>
      </a:lt1>
      <a:dk2>
        <a:srgbClr val="1F2123"/>
      </a:dk2>
      <a:lt2>
        <a:srgbClr val="DC9E1F"/>
      </a:lt2>
      <a:accent1>
        <a:srgbClr val="7E97AD"/>
      </a:accent1>
      <a:accent2>
        <a:srgbClr val="CC8E60"/>
      </a:accent2>
      <a:accent3>
        <a:srgbClr val="7A6A60"/>
      </a:accent3>
      <a:accent4>
        <a:srgbClr val="B4936D"/>
      </a:accent4>
      <a:accent5>
        <a:srgbClr val="67787B"/>
      </a:accent5>
      <a:accent6>
        <a:srgbClr val="9D936F"/>
      </a:accent6>
      <a:hlink>
        <a:srgbClr val="646464"/>
      </a:hlink>
      <a:folHlink>
        <a:srgbClr val="969696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078D7"/>
        </a:solidFill>
        <a:ln w="12700">
          <a:solidFill>
            <a:srgbClr val="0078D7"/>
          </a:solidFill>
        </a:ln>
      </a:spPr>
      <a:bodyPr wrap="none" rtlCol="0" anchor="ctr"/>
      <a:lstStyle>
        <a:defPPr>
          <a:defRPr sz="850" dirty="0">
            <a:solidFill>
              <a:srgbClr val="000000"/>
            </a:solidFill>
            <a:latin typeface="Segoe UI" panose="020B0502040204020203" pitchFamily="34" charset="0"/>
            <a:cs typeface="Segoe UI" panose="020B0502040204020203" pitchFamily="34" charset="0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디자인 사용자 지정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17082</TotalTime>
  <Words>941</Words>
  <Application>Microsoft Office PowerPoint</Application>
  <PresentationFormat>화면 슬라이드 쇼(16:10)</PresentationFormat>
  <Paragraphs>178</Paragraphs>
  <Slides>6</Slides>
  <Notes>3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6</vt:i4>
      </vt:variant>
    </vt:vector>
  </HeadingPairs>
  <TitlesOfParts>
    <vt:vector size="13" baseType="lpstr">
      <vt:lpstr>나눔고딕</vt:lpstr>
      <vt:lpstr>맑은 고딕</vt:lpstr>
      <vt:lpstr>Arial</vt:lpstr>
      <vt:lpstr>Calibri</vt:lpstr>
      <vt:lpstr>Segoe UI</vt:lpstr>
      <vt:lpstr>Office 테마</vt:lpstr>
      <vt:lpstr>디자인 사용자 지정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Windows 사용자</dc:creator>
  <cp:lastModifiedBy>Administrator</cp:lastModifiedBy>
  <cp:revision>1402</cp:revision>
  <cp:lastPrinted>2020-01-08T09:16:57Z</cp:lastPrinted>
  <dcterms:created xsi:type="dcterms:W3CDTF">2018-01-08T06:52:41Z</dcterms:created>
  <dcterms:modified xsi:type="dcterms:W3CDTF">2026-08-06T01:09:52Z</dcterms:modified>
</cp:coreProperties>
</file>