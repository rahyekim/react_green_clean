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73" r:id="rId2"/>
  </p:sldMasterIdLst>
  <p:notesMasterIdLst>
    <p:notesMasterId r:id="rId10"/>
  </p:notesMasterIdLst>
  <p:handoutMasterIdLst>
    <p:handoutMasterId r:id="rId11"/>
  </p:handoutMasterIdLst>
  <p:sldIdLst>
    <p:sldId id="398" r:id="rId3"/>
    <p:sldId id="409" r:id="rId4"/>
    <p:sldId id="403" r:id="rId5"/>
    <p:sldId id="404" r:id="rId6"/>
    <p:sldId id="412" r:id="rId7"/>
    <p:sldId id="413" r:id="rId8"/>
    <p:sldId id="406" r:id="rId9"/>
  </p:sldIdLst>
  <p:sldSz cx="9144000" cy="5715000" type="screen16x10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7">
          <p15:clr>
            <a:srgbClr val="A4A3A4"/>
          </p15:clr>
        </p15:guide>
        <p15:guide id="2" pos="212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93"/>
    <a:srgbClr val="FF8C2F"/>
    <a:srgbClr val="F47710"/>
    <a:srgbClr val="FFF2E9"/>
    <a:srgbClr val="0078D7"/>
    <a:srgbClr val="F2F2F2"/>
    <a:srgbClr val="FFFFE1"/>
    <a:srgbClr val="FFFF93"/>
    <a:srgbClr val="F7F7F7"/>
    <a:srgbClr val="F9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보통 스타일 3 - 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30" autoAdjust="0"/>
    <p:restoredTop sz="94660"/>
  </p:normalViewPr>
  <p:slideViewPr>
    <p:cSldViewPr>
      <p:cViewPr varScale="1">
        <p:scale>
          <a:sx n="126" d="100"/>
          <a:sy n="126" d="100"/>
        </p:scale>
        <p:origin x="1554" y="102"/>
      </p:cViewPr>
      <p:guideLst>
        <p:guide orient="horz" pos="180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1" d="100"/>
          <a:sy n="81" d="100"/>
        </p:scale>
        <p:origin x="-3990" y="-90"/>
      </p:cViewPr>
      <p:guideLst>
        <p:guide orient="horz" pos="3107"/>
        <p:guide pos="212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commentAuthors" Target="commentAuthors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4763" y="0"/>
            <a:ext cx="2919412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9972AA-FE3A-41E8-94D7-0A348C1614D1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B63632-7804-4AD9-A8DE-B9F0465691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88097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5E66B-2806-4CC0-B543-C1F698B8CB0C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7988" y="739775"/>
            <a:ext cx="5919787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686499"/>
            <a:ext cx="5388610" cy="443984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1285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3" y="9371285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76DB6A-589F-43F9-84B6-ACD2F062FA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3548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2200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22003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1846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00800" y="5505147"/>
            <a:ext cx="2743200" cy="2322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9C4B17B-A05E-4182-9286-FAF5968200C5}" type="slidenum">
              <a:rPr lang="ko-KR" altLang="en-US" sz="900" smtClean="0"/>
              <a:pPr/>
              <a:t>‹#›</a:t>
            </a:fld>
            <a:endParaRPr lang="ko-KR" altLang="en-US" sz="900" dirty="0"/>
          </a:p>
        </p:txBody>
      </p:sp>
      <p:sp>
        <p:nvSpPr>
          <p:cNvPr id="7" name="바닥글 개체 틀 4"/>
          <p:cNvSpPr txBox="1">
            <a:spLocks/>
          </p:cNvSpPr>
          <p:nvPr userDrawn="1"/>
        </p:nvSpPr>
        <p:spPr>
          <a:xfrm>
            <a:off x="1825918" y="5502743"/>
            <a:ext cx="5492164" cy="232279"/>
          </a:xfrm>
          <a:prstGeom prst="rect">
            <a:avLst/>
          </a:prstGeom>
        </p:spPr>
        <p:txBody>
          <a:bodyPr vert="horz" wrap="square" lIns="81037" tIns="40519" rIns="81037" bIns="40519" numCol="1" rtlCol="0" anchor="ctr" anchorCtr="0" compatLnSpc="1">
            <a:prstTxWarp prst="textNoShape">
              <a:avLst/>
            </a:prstTxWarp>
          </a:bodyPr>
          <a:lstStyle>
            <a:defPPr>
              <a:defRPr lang="ko-KR"/>
            </a:defPPr>
            <a:lvl1pPr marL="0" algn="ctr" defTabSz="914400" rtl="0" eaLnBrk="1" latinLnBrk="1" hangingPunct="1">
              <a:defRPr sz="7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600" dirty="0"/>
              <a:t>Copyright © 2026</a:t>
            </a:r>
            <a:r>
              <a:rPr lang="ko-KR" altLang="en-US" sz="600" dirty="0"/>
              <a:t> </a:t>
            </a:r>
            <a:r>
              <a:rPr lang="en-US" altLang="ko-KR" sz="600" dirty="0" err="1"/>
              <a:t>GreenComputer</a:t>
            </a:r>
            <a:r>
              <a:rPr lang="en-US" altLang="ko-KR" sz="600" dirty="0"/>
              <a:t>, ltd.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2257400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00800" y="5505147"/>
            <a:ext cx="2743200" cy="2322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9C4B17B-A05E-4182-9286-FAF5968200C5}" type="slidenum">
              <a:rPr lang="ko-KR" altLang="en-US" sz="900" smtClean="0"/>
              <a:pPr/>
              <a:t>‹#›</a:t>
            </a:fld>
            <a:endParaRPr lang="ko-KR" altLang="en-US" sz="900" dirty="0"/>
          </a:p>
        </p:txBody>
      </p:sp>
      <p:sp>
        <p:nvSpPr>
          <p:cNvPr id="7" name="바닥글 개체 틀 4"/>
          <p:cNvSpPr txBox="1">
            <a:spLocks/>
          </p:cNvSpPr>
          <p:nvPr userDrawn="1"/>
        </p:nvSpPr>
        <p:spPr>
          <a:xfrm>
            <a:off x="1825918" y="5502743"/>
            <a:ext cx="5492164" cy="232279"/>
          </a:xfrm>
          <a:prstGeom prst="rect">
            <a:avLst/>
          </a:prstGeom>
        </p:spPr>
        <p:txBody>
          <a:bodyPr vert="horz" wrap="square" lIns="81037" tIns="40519" rIns="81037" bIns="40519" numCol="1" rtlCol="0" anchor="ctr" anchorCtr="0" compatLnSpc="1">
            <a:prstTxWarp prst="textNoShape">
              <a:avLst/>
            </a:prstTxWarp>
          </a:bodyPr>
          <a:lstStyle>
            <a:defPPr>
              <a:defRPr lang="ko-KR"/>
            </a:defPPr>
            <a:lvl1pPr marL="0" algn="ctr" defTabSz="914400" rtl="0" eaLnBrk="1" latinLnBrk="1" hangingPunct="1">
              <a:defRPr sz="7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600" dirty="0"/>
              <a:t>Copyright © </a:t>
            </a:r>
            <a:r>
              <a:rPr lang="en-US" altLang="ko-KR" sz="600" dirty="0" err="1"/>
              <a:t>GreenComputer</a:t>
            </a:r>
            <a:r>
              <a:rPr lang="en-US" altLang="ko-KR" sz="600" dirty="0"/>
              <a:t>, ltd. All rights reserved.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6968736" y="193204"/>
            <a:ext cx="0" cy="51125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419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774825"/>
            <a:ext cx="7772400" cy="12255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238500"/>
            <a:ext cx="64008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510148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774825"/>
            <a:ext cx="7772400" cy="12255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238500"/>
            <a:ext cx="64008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4077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5625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671888"/>
            <a:ext cx="7772400" cy="1135062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422525"/>
            <a:ext cx="7772400" cy="124936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9904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333500"/>
            <a:ext cx="4038600" cy="37719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333500"/>
            <a:ext cx="4038600" cy="37719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17498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79525"/>
            <a:ext cx="4040188" cy="5334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812925"/>
            <a:ext cx="4040188" cy="32924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279525"/>
            <a:ext cx="4041775" cy="5334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1812925"/>
            <a:ext cx="4041775" cy="32924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351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9663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801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27013"/>
            <a:ext cx="3008313" cy="9683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27013"/>
            <a:ext cx="5111750" cy="487838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195388"/>
            <a:ext cx="3008313" cy="39100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89932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000500"/>
            <a:ext cx="5486400" cy="4730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511175"/>
            <a:ext cx="5486400" cy="3429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473575"/>
            <a:ext cx="5486400" cy="66992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61623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9603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28600"/>
            <a:ext cx="2057400" cy="48768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28600"/>
            <a:ext cx="6019800" cy="48768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1776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28865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216263855"/>
              </p:ext>
            </p:extLst>
          </p:nvPr>
        </p:nvGraphicFramePr>
        <p:xfrm>
          <a:off x="0" y="1"/>
          <a:ext cx="9143999" cy="53713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805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81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93203">
                <a:tc>
                  <a:txBody>
                    <a:bodyPr/>
                    <a:lstStyle/>
                    <a:p>
                      <a:pPr latinLnBrk="1"/>
                      <a:endParaRPr lang="ko-KR" altLang="en-US" sz="600" b="1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Title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도서검색 서비스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Made</a:t>
                      </a:r>
                      <a:r>
                        <a:rPr lang="en-US" altLang="ko-KR" sz="600" b="1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by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60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김라혜</a:t>
                      </a:r>
                      <a:endParaRPr lang="ko-KR" altLang="en-US" sz="6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Ver</a:t>
                      </a:r>
                      <a:r>
                        <a:rPr lang="en-US" altLang="ko-KR" sz="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.</a:t>
                      </a:r>
                      <a:endParaRPr lang="ko-KR" altLang="en-US" sz="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1.0</a:t>
                      </a:r>
                      <a:endParaRPr lang="ko-KR" altLang="en-US" sz="6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Last updated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2026-08-18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600" b="1" u="none" spc="7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8183">
                <a:tc gridSpan="10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1" u="none" spc="7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3364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72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5297488"/>
            <a:ext cx="2133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5297488"/>
            <a:ext cx="2895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5297488"/>
            <a:ext cx="2133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8267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8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tags" Target="../tags/tag10.xml"/><Relationship Id="rId13" Type="http://schemas.openxmlformats.org/officeDocument/2006/relationships/image" Target="../media/image10.jpg"/><Relationship Id="rId3" Type="http://schemas.openxmlformats.org/officeDocument/2006/relationships/tags" Target="../tags/tag5.xml"/><Relationship Id="rId7" Type="http://schemas.openxmlformats.org/officeDocument/2006/relationships/tags" Target="../tags/tag9.xml"/><Relationship Id="rId12" Type="http://schemas.openxmlformats.org/officeDocument/2006/relationships/notesSlide" Target="../notesSlides/notesSlide3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tags" Target="../tags/tag8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7.xml"/><Relationship Id="rId15" Type="http://schemas.openxmlformats.org/officeDocument/2006/relationships/image" Target="../media/image9.svg"/><Relationship Id="rId10" Type="http://schemas.openxmlformats.org/officeDocument/2006/relationships/tags" Target="../tags/tag12.xml"/><Relationship Id="rId4" Type="http://schemas.openxmlformats.org/officeDocument/2006/relationships/tags" Target="../tags/tag6.xml"/><Relationship Id="rId9" Type="http://schemas.openxmlformats.org/officeDocument/2006/relationships/tags" Target="../tags/tag11.xml"/><Relationship Id="rId1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7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346153"/>
              </p:ext>
            </p:extLst>
          </p:nvPr>
        </p:nvGraphicFramePr>
        <p:xfrm>
          <a:off x="683569" y="985292"/>
          <a:ext cx="7776864" cy="1674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68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477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" name="Group 1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6144467"/>
              </p:ext>
            </p:extLst>
          </p:nvPr>
        </p:nvGraphicFramePr>
        <p:xfrm>
          <a:off x="3185639" y="3433564"/>
          <a:ext cx="2819849" cy="1196975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1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그린컴퓨터 </a:t>
                      </a:r>
                      <a:r>
                        <a:rPr kumimoji="1" lang="ko-KR" altLang="en-US" sz="9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노원점</a:t>
                      </a:r>
                      <a:endParaRPr kumimoji="1" lang="ko-KR" altLang="en-US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  <a:cs typeface="Times New Roman" pitchFamily="18" charset="0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확</a:t>
                      </a:r>
                      <a:endParaRPr kumimoji="1" lang="en-US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Times New Roman" pitchFamily="18" charset="0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인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작성자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검수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최종 승인 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김라혜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유승준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홍희경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제목 3"/>
          <p:cNvSpPr txBox="1">
            <a:spLocks/>
          </p:cNvSpPr>
          <p:nvPr/>
        </p:nvSpPr>
        <p:spPr>
          <a:xfrm>
            <a:off x="179513" y="1294731"/>
            <a:ext cx="8784975" cy="4874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도서 </a:t>
            </a:r>
            <a:r>
              <a:rPr lang="ko-KR" altLang="en-US" sz="18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겁색</a:t>
            </a:r>
            <a:r>
              <a:rPr lang="ko-KR" altLang="en-US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웹 </a:t>
            </a:r>
            <a:r>
              <a:rPr lang="en-US" altLang="ko-KR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SB</a:t>
            </a:r>
            <a:endParaRPr lang="ko-KR" altLang="en-US" sz="18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" name="제목 3"/>
          <p:cNvSpPr txBox="1">
            <a:spLocks/>
          </p:cNvSpPr>
          <p:nvPr/>
        </p:nvSpPr>
        <p:spPr>
          <a:xfrm>
            <a:off x="179512" y="1977399"/>
            <a:ext cx="8784975" cy="4874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1050" dirty="0">
                <a:solidFill>
                  <a:schemeClr val="bg1"/>
                </a:solidFill>
                <a:latin typeface="+mn-ea"/>
                <a:ea typeface="+mn-ea"/>
              </a:rPr>
              <a:t>2026-08-05</a:t>
            </a:r>
            <a:endParaRPr lang="ko-KR" altLang="en-US" sz="105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" name="제목 3"/>
          <p:cNvSpPr txBox="1">
            <a:spLocks/>
          </p:cNvSpPr>
          <p:nvPr/>
        </p:nvSpPr>
        <p:spPr>
          <a:xfrm>
            <a:off x="611559" y="2641476"/>
            <a:ext cx="7920881" cy="3600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altLang="ko-KR" sz="9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Ver. 1.0</a:t>
            </a:r>
            <a:endParaRPr lang="ko-KR" altLang="en-US" sz="9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27464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671177"/>
              </p:ext>
            </p:extLst>
          </p:nvPr>
        </p:nvGraphicFramePr>
        <p:xfrm>
          <a:off x="275731" y="675489"/>
          <a:ext cx="8592538" cy="337717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588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52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05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122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변경일자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>
                          <a:solidFill>
                            <a:schemeClr val="tx1"/>
                          </a:solidFill>
                        </a:rPr>
                        <a:t>page</a:t>
                      </a:r>
                      <a:endParaRPr lang="ko-KR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내                            용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v.0.1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2026-08-05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-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/>
                        <a:t>최초작성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 err="1"/>
                        <a:t>김라혜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20677" y="265212"/>
            <a:ext cx="11037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문서이력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A7811D-B585-4DB2-A71F-7454EDE8B0F9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문서이력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47E9790-026E-4A7B-8BC1-2BB7D23D91FC}"/>
              </a:ext>
            </a:extLst>
          </p:cNvPr>
          <p:cNvSpPr/>
          <p:nvPr/>
        </p:nvSpPr>
        <p:spPr>
          <a:xfrm>
            <a:off x="1403648" y="4563218"/>
            <a:ext cx="683447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문서의 버전정보를 확인할 수 있는 문서</a:t>
            </a:r>
            <a:endParaRPr lang="en-US" altLang="ko-KR" sz="8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9B64829-8A32-44D6-84E4-74E6E4A40D9D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기획문서는 최초 작성 후 작성 시와 달라지는 여러 이해당사자의 필요나 개발 환경에 따라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수정이 여러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차레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발생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할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 문서는 디자인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개발 완료까지 작업을 진행하는 작업자와 관리자까지 최종 결과물에 대한 기초자료가 되기 때문에 수정된 정보 에 대한 관리가 되지 않으면 최종 결과물이 원하는 방향대로 나오지 않을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정해진 양식은 없지만 일반적으로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버전 별 변경일자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수정된 페이지와 수정 내용을 작성하고 최종 버전을 공유합니다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</p:txBody>
      </p:sp>
      <p:pic>
        <p:nvPicPr>
          <p:cNvPr id="18" name="그래픽 17">
            <a:extLst>
              <a:ext uri="{FF2B5EF4-FFF2-40B4-BE49-F238E27FC236}">
                <a16:creationId xmlns:a16="http://schemas.microsoft.com/office/drawing/2014/main" id="{54FBBEFD-86F7-4840-8043-6464AE9DC1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4800" y="4624064"/>
            <a:ext cx="209583" cy="216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819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0D22AEF-7B1F-409B-B38B-19B7ED52011A}"/>
              </a:ext>
            </a:extLst>
          </p:cNvPr>
          <p:cNvSpPr txBox="1"/>
          <p:nvPr/>
        </p:nvSpPr>
        <p:spPr>
          <a:xfrm>
            <a:off x="220677" y="265212"/>
            <a:ext cx="2803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>
                <a:latin typeface="나눔고딕" panose="020D0604000000000000" pitchFamily="50" charset="-127"/>
                <a:ea typeface="나눔고딕" panose="020D0604000000000000" pitchFamily="50" charset="-127"/>
              </a:rPr>
              <a:t>도서검색웹</a:t>
            </a:r>
            <a:r>
              <a:rPr lang="ko-KR" altLang="en-US" sz="1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서비스 개요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56E816E-84AA-4414-80AD-9092A30C84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993006"/>
              </p:ext>
            </p:extLst>
          </p:nvPr>
        </p:nvGraphicFramePr>
        <p:xfrm>
          <a:off x="275731" y="672900"/>
          <a:ext cx="8592538" cy="433926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839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52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54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내용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30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서비스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교육 출판 및 도서 정보 제공 플랫폼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‘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그린스터디북스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＇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웹사이트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654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배경</a:t>
                      </a:r>
                      <a:endParaRPr lang="en-US" altLang="ko-KR" sz="800" b="1" dirty="0"/>
                    </a:p>
                    <a:p>
                      <a:pPr algn="ctr" latinLnBrk="1"/>
                      <a:endParaRPr lang="en-US" altLang="ko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 교육 과정 및 단행본을 아우르는 자사 출판 도서의 효과적인 홍보와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학생 및 교사들의 학습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교육 지원 자료에 대한 접근성을 높일 수 있는 통합 플랫폼 필요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07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목적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대상별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직관적인 도서 탐색 환경 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학습자 및 교수자를 위한 필수 부가 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해설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듣기자료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교사용 이북 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의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원활한 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맞춤 큐레이션 및 커뮤니티 연동을 통한 고객 소통 강화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48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/>
                        <a:t>기대 효과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고객 편의성 증대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검색 및 카테고리화를 통해 원하는 교재와 부가 자료를 빠르게 획득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브랜드 인지도 상승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‘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그린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pick’,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베스트 셀러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유튜브 콘텐츠 연동을 통한 체류시간 증대 및 브랜드 친밀도 향상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</a:t>
                      </a:r>
                      <a:r>
                        <a:rPr lang="en-US" altLang="ko-KR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학원 고객 확보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전용 자료 제공 및 채택 이벤트를 통한 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B2B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충성 고객 확보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15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주요 기능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네비게이션 및 검색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카테고리 탭 및 통합 검색 기능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퀵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메뉴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자료실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정답 및 해설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정오표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듣기자료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교사용자료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교사용 이북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총판 안내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FAQ</a:t>
                      </a: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도서 큐레이션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해시태그 기반 맞춤 추천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‘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그린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pick’,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타겟별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‘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베스트셀러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‘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랭킹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미디어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&amp;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커뮤니티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유튜브 영상 갤러리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한능검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집밥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백과 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진행 중인 이벤트 목록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공식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SNS(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인스타그램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유튜브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블로그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까페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링크 연동 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37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주요 고객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/>
                        <a:t>초</a:t>
                      </a:r>
                      <a:r>
                        <a:rPr lang="en-US" altLang="ko-KR" sz="800" dirty="0"/>
                        <a:t>·</a:t>
                      </a:r>
                      <a:r>
                        <a:rPr lang="ko-KR" altLang="en-US" sz="800" dirty="0"/>
                        <a:t>중</a:t>
                      </a:r>
                      <a:r>
                        <a:rPr lang="en-US" altLang="ko-KR" sz="800" dirty="0"/>
                        <a:t>·</a:t>
                      </a:r>
                      <a:r>
                        <a:rPr lang="ko-KR" altLang="en-US" sz="800" dirty="0"/>
                        <a:t>고등학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생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학부모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학교 및 학원 교사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일반 독자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구독자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68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서비스 채널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반응형 웹사이트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 PC,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태블릿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모바일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630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기타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ko-KR" altLang="en-US" sz="800" b="1" dirty="0" err="1"/>
                        <a:t>오픈시점</a:t>
                      </a:r>
                      <a:r>
                        <a:rPr lang="ko-KR" altLang="en-US" sz="800" b="1" dirty="0"/>
                        <a:t> 등</a:t>
                      </a:r>
                      <a:r>
                        <a:rPr lang="en-US" altLang="ko-KR" sz="800" b="1" dirty="0"/>
                        <a:t>)</a:t>
                      </a:r>
                      <a:endParaRPr lang="ko-KR" altLang="en-US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/>
                        <a:t>특이사항</a:t>
                      </a:r>
                      <a:r>
                        <a:rPr lang="en-US" altLang="ko-KR" sz="800" dirty="0"/>
                        <a:t>: ‘</a:t>
                      </a:r>
                      <a:r>
                        <a:rPr lang="ko-KR" altLang="en-US" sz="800" dirty="0"/>
                        <a:t>초등 수능 수학 </a:t>
                      </a:r>
                      <a:r>
                        <a:rPr lang="en-US" altLang="ko-KR" sz="800" dirty="0"/>
                        <a:t>KICK’, ‘</a:t>
                      </a:r>
                      <a:r>
                        <a:rPr lang="ko-KR" altLang="en-US" sz="800" dirty="0" err="1"/>
                        <a:t>뭔말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과학 용어</a:t>
                      </a:r>
                      <a:r>
                        <a:rPr lang="en-US" altLang="ko-KR" sz="800" dirty="0"/>
                        <a:t>＇</a:t>
                      </a:r>
                      <a:r>
                        <a:rPr lang="ko-KR" altLang="en-US" sz="800"/>
                        <a:t>등 핵심 도서 시리즈 중심의 마케팅 전개</a:t>
                      </a:r>
                      <a:endParaRPr lang="ko-KR" altLang="en-US" sz="8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51EEDD-28BE-4E9C-A6AE-C8F34434803B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 개요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D2537F6-39FA-40A2-8761-EF83310CAD8A}"/>
              </a:ext>
            </a:extLst>
          </p:cNvPr>
          <p:cNvSpPr/>
          <p:nvPr/>
        </p:nvSpPr>
        <p:spPr>
          <a:xfrm>
            <a:off x="1561209" y="4563218"/>
            <a:ext cx="683447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|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서비스에 대한 개괄적인 내용을 작성한 문서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14CC866-8141-447F-BE14-655AC1743971}"/>
              </a:ext>
            </a:extLst>
          </p:cNvPr>
          <p:cNvSpPr/>
          <p:nvPr/>
        </p:nvSpPr>
        <p:spPr>
          <a:xfrm>
            <a:off x="257370" y="4867392"/>
            <a:ext cx="8563102" cy="396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신규 서비스라면 기획서를 읽는 다양한 관계자의 이해를 돕기 위해 간단한 서비스 개요를 삽입하면 좋습니다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서비스의 배경과 목적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효과를 공유하여 방향성을 전달합니다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24D5021A-7779-4675-93EA-0272AA5994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24497" y="4637104"/>
            <a:ext cx="177901" cy="144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674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D1798D27-856C-4ABE-AD88-3547832FE000}"/>
              </a:ext>
            </a:extLst>
          </p:cNvPr>
          <p:cNvSpPr txBox="1"/>
          <p:nvPr/>
        </p:nvSpPr>
        <p:spPr>
          <a:xfrm>
            <a:off x="-8305" y="337220"/>
            <a:ext cx="45803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책 상세 정보 조회 플로우</a:t>
            </a: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4C571064-81D9-41A8-AD92-C492C30DC26F}"/>
              </a:ext>
            </a:extLst>
          </p:cNvPr>
          <p:cNvSpPr/>
          <p:nvPr/>
        </p:nvSpPr>
        <p:spPr>
          <a:xfrm>
            <a:off x="815023" y="721536"/>
            <a:ext cx="849068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시작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A3D26EA4-1BEC-4D52-A248-9DEED862A71D}"/>
              </a:ext>
            </a:extLst>
          </p:cNvPr>
          <p:cNvSpPr/>
          <p:nvPr/>
        </p:nvSpPr>
        <p:spPr>
          <a:xfrm>
            <a:off x="823585" y="139699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제목 검색</a:t>
            </a: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6F541ABC-B8DD-46A0-BD55-31C4324E4F89}"/>
              </a:ext>
            </a:extLst>
          </p:cNvPr>
          <p:cNvSpPr/>
          <p:nvPr/>
        </p:nvSpPr>
        <p:spPr>
          <a:xfrm>
            <a:off x="735923" y="2589572"/>
            <a:ext cx="1015830" cy="390458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결과에 책이 </a:t>
            </a:r>
            <a:endParaRPr lang="en-US" altLang="ko-KR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1242411" y="17731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5A2F5531-EEB3-43C4-9F84-C7A4D48D989B}"/>
              </a:ext>
            </a:extLst>
          </p:cNvPr>
          <p:cNvCxnSpPr>
            <a:cxnSpLocks/>
          </p:cNvCxnSpPr>
          <p:nvPr/>
        </p:nvCxnSpPr>
        <p:spPr>
          <a:xfrm>
            <a:off x="1827294" y="2695810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DBA1496-AB2D-4545-B4F6-BD901EA2C55F}"/>
              </a:ext>
            </a:extLst>
          </p:cNvPr>
          <p:cNvSpPr/>
          <p:nvPr/>
        </p:nvSpPr>
        <p:spPr>
          <a:xfrm>
            <a:off x="2163068" y="2518946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검색 결과 </a:t>
            </a:r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메세지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E5A8530-79EE-4D6C-9101-FD119E2EF8FE}"/>
              </a:ext>
            </a:extLst>
          </p:cNvPr>
          <p:cNvSpPr txBox="1"/>
          <p:nvPr/>
        </p:nvSpPr>
        <p:spPr>
          <a:xfrm>
            <a:off x="1791286" y="2504784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CEB3E6C-6E2D-4BD1-8D6A-2260E4C1472B}"/>
              </a:ext>
            </a:extLst>
          </p:cNvPr>
          <p:cNvSpPr txBox="1"/>
          <p:nvPr/>
        </p:nvSpPr>
        <p:spPr>
          <a:xfrm>
            <a:off x="1287157" y="310488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9032F5B2-C1EB-4A39-9F1F-854135E61A81}"/>
              </a:ext>
            </a:extLst>
          </p:cNvPr>
          <p:cNvCxnSpPr>
            <a:cxnSpLocks/>
          </p:cNvCxnSpPr>
          <p:nvPr/>
        </p:nvCxnSpPr>
        <p:spPr>
          <a:xfrm>
            <a:off x="1242411" y="3058236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89CC2D7F-214E-4B0B-8ABC-11BD0A62FCD6}"/>
              </a:ext>
            </a:extLst>
          </p:cNvPr>
          <p:cNvSpPr/>
          <p:nvPr/>
        </p:nvSpPr>
        <p:spPr>
          <a:xfrm>
            <a:off x="823585" y="331103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클릭 </a:t>
            </a:r>
          </a:p>
        </p:txBody>
      </p: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533E5E80-71B6-475A-8D64-B6453E05E45D}"/>
              </a:ext>
            </a:extLst>
          </p:cNvPr>
          <p:cNvCxnSpPr>
            <a:cxnSpLocks/>
          </p:cNvCxnSpPr>
          <p:nvPr/>
        </p:nvCxnSpPr>
        <p:spPr>
          <a:xfrm>
            <a:off x="1245265" y="3688564"/>
            <a:ext cx="0" cy="249056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BD74F3AF-FEA8-4D6C-AB73-E6B431ED7C92}"/>
              </a:ext>
            </a:extLst>
          </p:cNvPr>
          <p:cNvSpPr/>
          <p:nvPr/>
        </p:nvSpPr>
        <p:spPr>
          <a:xfrm>
            <a:off x="669078" y="3957724"/>
            <a:ext cx="1148044" cy="75674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상세 페이지 노출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80F4EF49-1194-4449-A0A1-8FF494E8068F}"/>
              </a:ext>
            </a:extLst>
          </p:cNvPr>
          <p:cNvSpPr/>
          <p:nvPr/>
        </p:nvSpPr>
        <p:spPr>
          <a:xfrm>
            <a:off x="823585" y="4986118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5E8CD1DC-58C2-46B5-85BA-70E1A0B404A4}"/>
              </a:ext>
            </a:extLst>
          </p:cNvPr>
          <p:cNvCxnSpPr>
            <a:cxnSpLocks/>
          </p:cNvCxnSpPr>
          <p:nvPr/>
        </p:nvCxnSpPr>
        <p:spPr>
          <a:xfrm>
            <a:off x="1236382" y="4800113"/>
            <a:ext cx="0" cy="144404"/>
          </a:xfrm>
          <a:prstGeom prst="straightConnector1">
            <a:avLst/>
          </a:prstGeom>
          <a:ln>
            <a:solidFill>
              <a:srgbClr val="F47710"/>
            </a:solidFill>
            <a:headEnd w="sm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꺾인 연결선 51">
            <a:extLst>
              <a:ext uri="{FF2B5EF4-FFF2-40B4-BE49-F238E27FC236}">
                <a16:creationId xmlns:a16="http://schemas.microsoft.com/office/drawing/2014/main" id="{D7968543-166F-478D-BFD4-B78208D06262}"/>
              </a:ext>
            </a:extLst>
          </p:cNvPr>
          <p:cNvCxnSpPr>
            <a:cxnSpLocks/>
          </p:cNvCxnSpPr>
          <p:nvPr/>
        </p:nvCxnSpPr>
        <p:spPr>
          <a:xfrm rot="10800000">
            <a:off x="2005200" y="1430729"/>
            <a:ext cx="1885610" cy="13554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F7C88897-D3F6-41E7-AF44-C7949EB6E12D}"/>
              </a:ext>
            </a:extLst>
          </p:cNvPr>
          <p:cNvSpPr txBox="1"/>
          <p:nvPr/>
        </p:nvSpPr>
        <p:spPr>
          <a:xfrm>
            <a:off x="442241" y="2683156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CBA3C6A-B568-4923-98F4-C19EAC4292F8}"/>
              </a:ext>
            </a:extLst>
          </p:cNvPr>
          <p:cNvSpPr txBox="1"/>
          <p:nvPr/>
        </p:nvSpPr>
        <p:spPr>
          <a:xfrm>
            <a:off x="1287157" y="3721596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5" name="모서리가 둥근 직사각형 84">
            <a:extLst>
              <a:ext uri="{FF2B5EF4-FFF2-40B4-BE49-F238E27FC236}">
                <a16:creationId xmlns:a16="http://schemas.microsoft.com/office/drawing/2014/main" id="{8FDF1BE9-EC0C-4E73-BE0A-9EC7BB4BEFE3}"/>
              </a:ext>
            </a:extLst>
          </p:cNvPr>
          <p:cNvSpPr/>
          <p:nvPr/>
        </p:nvSpPr>
        <p:spPr>
          <a:xfrm>
            <a:off x="5185946" y="745956"/>
            <a:ext cx="849068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시작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5B65ADE7-6BC0-4662-A42C-2CFEB6F02973}"/>
              </a:ext>
            </a:extLst>
          </p:cNvPr>
          <p:cNvSpPr/>
          <p:nvPr/>
        </p:nvSpPr>
        <p:spPr>
          <a:xfrm>
            <a:off x="5053279" y="1396994"/>
            <a:ext cx="113787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상세 페이지 진입</a:t>
            </a:r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7F1716E-9151-495B-B433-27D97257FF5C}"/>
              </a:ext>
            </a:extLst>
          </p:cNvPr>
          <p:cNvSpPr/>
          <p:nvPr/>
        </p:nvSpPr>
        <p:spPr>
          <a:xfrm>
            <a:off x="5113602" y="2004892"/>
            <a:ext cx="1015830" cy="338554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재고가 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A3D0C245-3E1C-432B-B180-05D0E8EF92B5}"/>
              </a:ext>
            </a:extLst>
          </p:cNvPr>
          <p:cNvCxnSpPr>
            <a:cxnSpLocks/>
          </p:cNvCxnSpPr>
          <p:nvPr/>
        </p:nvCxnSpPr>
        <p:spPr>
          <a:xfrm>
            <a:off x="5620790" y="17731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9D09828B-6410-4B49-975A-1E4F8F322258}"/>
              </a:ext>
            </a:extLst>
          </p:cNvPr>
          <p:cNvCxnSpPr>
            <a:cxnSpLocks/>
          </p:cNvCxnSpPr>
          <p:nvPr/>
        </p:nvCxnSpPr>
        <p:spPr>
          <a:xfrm>
            <a:off x="6205673" y="2159059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F0A341A0-5E89-461A-B7DE-58F26DF8B530}"/>
              </a:ext>
            </a:extLst>
          </p:cNvPr>
          <p:cNvSpPr/>
          <p:nvPr/>
        </p:nvSpPr>
        <p:spPr>
          <a:xfrm>
            <a:off x="7788252" y="1298645"/>
            <a:ext cx="1059988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 양식 노출</a:t>
            </a: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88C5D7D0-C7D1-4535-9D94-B521F467159D}"/>
              </a:ext>
            </a:extLst>
          </p:cNvPr>
          <p:cNvCxnSpPr>
            <a:cxnSpLocks/>
          </p:cNvCxnSpPr>
          <p:nvPr/>
        </p:nvCxnSpPr>
        <p:spPr>
          <a:xfrm>
            <a:off x="7731968" y="3721596"/>
            <a:ext cx="17860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5F361EB6-C4C7-4890-80D3-32920BD1A110}"/>
              </a:ext>
            </a:extLst>
          </p:cNvPr>
          <p:cNvSpPr txBox="1"/>
          <p:nvPr/>
        </p:nvSpPr>
        <p:spPr>
          <a:xfrm>
            <a:off x="6169665" y="1968033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89A4301-0E27-40A9-9B2E-ED3B8A767A2F}"/>
              </a:ext>
            </a:extLst>
          </p:cNvPr>
          <p:cNvSpPr txBox="1"/>
          <p:nvPr/>
        </p:nvSpPr>
        <p:spPr>
          <a:xfrm>
            <a:off x="5665536" y="237704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94AFE8D-FA9D-4568-8D06-3E02FBB79BC5}"/>
              </a:ext>
            </a:extLst>
          </p:cNvPr>
          <p:cNvCxnSpPr>
            <a:cxnSpLocks/>
          </p:cNvCxnSpPr>
          <p:nvPr/>
        </p:nvCxnSpPr>
        <p:spPr>
          <a:xfrm>
            <a:off x="5620790" y="2391540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59C6B0BE-0DF4-4F39-8223-38DF9B4ADFB5}"/>
              </a:ext>
            </a:extLst>
          </p:cNvPr>
          <p:cNvSpPr/>
          <p:nvPr/>
        </p:nvSpPr>
        <p:spPr>
          <a:xfrm>
            <a:off x="5053279" y="2616193"/>
            <a:ext cx="1158805" cy="568871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장바구니 담기 버튼 클릭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7A8B0EAE-A922-43A6-8E61-270FA74A1BBD}"/>
              </a:ext>
            </a:extLst>
          </p:cNvPr>
          <p:cNvSpPr/>
          <p:nvPr/>
        </p:nvSpPr>
        <p:spPr>
          <a:xfrm>
            <a:off x="7451556" y="4009628"/>
            <a:ext cx="96766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본인 인증 진행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(SMS 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이메일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)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6170BAEC-C5EE-4511-9E46-74AA6FA301B1}"/>
              </a:ext>
            </a:extLst>
          </p:cNvPr>
          <p:cNvCxnSpPr>
            <a:cxnSpLocks/>
          </p:cNvCxnSpPr>
          <p:nvPr/>
        </p:nvCxnSpPr>
        <p:spPr>
          <a:xfrm flipH="1" flipV="1">
            <a:off x="7066043" y="908578"/>
            <a:ext cx="9909" cy="1023908"/>
          </a:xfrm>
          <a:prstGeom prst="straightConnector1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4A9733C0-A759-4CA7-A5DE-98AAFF7B3D69}"/>
              </a:ext>
            </a:extLst>
          </p:cNvPr>
          <p:cNvCxnSpPr>
            <a:cxnSpLocks/>
          </p:cNvCxnSpPr>
          <p:nvPr/>
        </p:nvCxnSpPr>
        <p:spPr>
          <a:xfrm>
            <a:off x="5620790" y="3217492"/>
            <a:ext cx="2853" cy="246399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CD6BC275-567E-4FF6-B8F8-9854F4D76E8A}"/>
              </a:ext>
            </a:extLst>
          </p:cNvPr>
          <p:cNvSpPr/>
          <p:nvPr/>
        </p:nvSpPr>
        <p:spPr>
          <a:xfrm>
            <a:off x="4882617" y="3505572"/>
            <a:ext cx="1479200" cy="486031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계정이 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8BA99EDD-6CEE-4FD7-84D8-BDDA7EB73F96}"/>
              </a:ext>
            </a:extLst>
          </p:cNvPr>
          <p:cNvSpPr/>
          <p:nvPr/>
        </p:nvSpPr>
        <p:spPr>
          <a:xfrm>
            <a:off x="5201964" y="4210493"/>
            <a:ext cx="840506" cy="56737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장바구니에 담기</a:t>
            </a:r>
          </a:p>
        </p:txBody>
      </p:sp>
      <p:sp>
        <p:nvSpPr>
          <p:cNvPr id="105" name="모서리가 둥근 직사각형 104">
            <a:extLst>
              <a:ext uri="{FF2B5EF4-FFF2-40B4-BE49-F238E27FC236}">
                <a16:creationId xmlns:a16="http://schemas.microsoft.com/office/drawing/2014/main" id="{1545CF5C-9652-42C9-B52D-EA916D78866C}"/>
              </a:ext>
            </a:extLst>
          </p:cNvPr>
          <p:cNvSpPr/>
          <p:nvPr/>
        </p:nvSpPr>
        <p:spPr>
          <a:xfrm>
            <a:off x="5194508" y="5090501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A225B93D-2579-44CC-A591-F86C1F45C7AA}"/>
              </a:ext>
            </a:extLst>
          </p:cNvPr>
          <p:cNvCxnSpPr>
            <a:cxnSpLocks/>
          </p:cNvCxnSpPr>
          <p:nvPr/>
        </p:nvCxnSpPr>
        <p:spPr>
          <a:xfrm>
            <a:off x="5614761" y="4791455"/>
            <a:ext cx="0" cy="192201"/>
          </a:xfrm>
          <a:prstGeom prst="straightConnector1">
            <a:avLst/>
          </a:prstGeom>
          <a:ln>
            <a:solidFill>
              <a:srgbClr val="F47710"/>
            </a:solidFill>
            <a:headEnd w="sm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꺾인 연결선 51">
            <a:extLst>
              <a:ext uri="{FF2B5EF4-FFF2-40B4-BE49-F238E27FC236}">
                <a16:creationId xmlns:a16="http://schemas.microsoft.com/office/drawing/2014/main" id="{3290B2E1-F73B-4375-940C-E7DDB2F06D8F}"/>
              </a:ext>
            </a:extLst>
          </p:cNvPr>
          <p:cNvCxnSpPr>
            <a:cxnSpLocks/>
          </p:cNvCxnSpPr>
          <p:nvPr/>
        </p:nvCxnSpPr>
        <p:spPr>
          <a:xfrm rot="10800000">
            <a:off x="3476933" y="2663996"/>
            <a:ext cx="455771" cy="30710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BDF07F9B-FB0D-4A5D-A43C-FF32EE93861D}"/>
              </a:ext>
            </a:extLst>
          </p:cNvPr>
          <p:cNvSpPr txBox="1"/>
          <p:nvPr/>
        </p:nvSpPr>
        <p:spPr>
          <a:xfrm>
            <a:off x="5665536" y="3968978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10" name="직선 화살표 연결선 109">
            <a:extLst>
              <a:ext uri="{FF2B5EF4-FFF2-40B4-BE49-F238E27FC236}">
                <a16:creationId xmlns:a16="http://schemas.microsoft.com/office/drawing/2014/main" id="{BE7EBA11-63F9-4B8E-B14B-764B42E038F7}"/>
              </a:ext>
            </a:extLst>
          </p:cNvPr>
          <p:cNvCxnSpPr>
            <a:cxnSpLocks/>
          </p:cNvCxnSpPr>
          <p:nvPr/>
        </p:nvCxnSpPr>
        <p:spPr>
          <a:xfrm>
            <a:off x="5620790" y="4001663"/>
            <a:ext cx="2854" cy="17523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64B9737C-AF4C-4715-8F58-75FD2FA96A04}"/>
              </a:ext>
            </a:extLst>
          </p:cNvPr>
          <p:cNvSpPr txBox="1"/>
          <p:nvPr/>
        </p:nvSpPr>
        <p:spPr>
          <a:xfrm>
            <a:off x="4572000" y="350428"/>
            <a:ext cx="4563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>
                <a:latin typeface="나눔고딕" panose="020D0604000000000000" pitchFamily="50" charset="-127"/>
                <a:ea typeface="나눔고딕" panose="020D0604000000000000" pitchFamily="50" charset="-127"/>
              </a:rPr>
              <a:t>장바구니 추가 </a:t>
            </a:r>
            <a:r>
              <a:rPr lang="ko-KR" altLang="en-US" sz="14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프로세스</a:t>
            </a:r>
          </a:p>
        </p:txBody>
      </p:sp>
      <p:cxnSp>
        <p:nvCxnSpPr>
          <p:cNvPr id="113" name="직선 연결선 112">
            <a:extLst>
              <a:ext uri="{FF2B5EF4-FFF2-40B4-BE49-F238E27FC236}">
                <a16:creationId xmlns:a16="http://schemas.microsoft.com/office/drawing/2014/main" id="{32B5AF49-B377-4AD8-BC34-873DED121F0A}"/>
              </a:ext>
            </a:extLst>
          </p:cNvPr>
          <p:cNvCxnSpPr/>
          <p:nvPr/>
        </p:nvCxnSpPr>
        <p:spPr>
          <a:xfrm>
            <a:off x="4580308" y="195278"/>
            <a:ext cx="0" cy="551972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1242411" y="11634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5604919" y="11634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5D524E63-A953-4FD7-BE6D-41445B4DED7A}"/>
              </a:ext>
            </a:extLst>
          </p:cNvPr>
          <p:cNvSpPr/>
          <p:nvPr/>
        </p:nvSpPr>
        <p:spPr>
          <a:xfrm>
            <a:off x="827584" y="2014890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검색 결과 노출</a:t>
            </a:r>
          </a:p>
        </p:txBody>
      </p: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2BD90CB9-C303-4E32-AA5F-4D0AF779878E}"/>
              </a:ext>
            </a:extLst>
          </p:cNvPr>
          <p:cNvCxnSpPr>
            <a:cxnSpLocks/>
          </p:cNvCxnSpPr>
          <p:nvPr/>
        </p:nvCxnSpPr>
        <p:spPr>
          <a:xfrm>
            <a:off x="1256778" y="2410164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꺾인 연결선 51">
            <a:extLst>
              <a:ext uri="{FF2B5EF4-FFF2-40B4-BE49-F238E27FC236}">
                <a16:creationId xmlns:a16="http://schemas.microsoft.com/office/drawing/2014/main" id="{98C801B2-643D-4809-BE1A-99DFB3519FEA}"/>
              </a:ext>
            </a:extLst>
          </p:cNvPr>
          <p:cNvCxnSpPr>
            <a:cxnSpLocks/>
          </p:cNvCxnSpPr>
          <p:nvPr/>
        </p:nvCxnSpPr>
        <p:spPr>
          <a:xfrm rot="10800000">
            <a:off x="6078219" y="4559747"/>
            <a:ext cx="1589361" cy="67401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직사각형 115">
            <a:extLst>
              <a:ext uri="{FF2B5EF4-FFF2-40B4-BE49-F238E27FC236}">
                <a16:creationId xmlns:a16="http://schemas.microsoft.com/office/drawing/2014/main" id="{1F79F96E-7B65-4E68-AA0D-C13FDBE9D2D1}"/>
              </a:ext>
            </a:extLst>
          </p:cNvPr>
          <p:cNvSpPr/>
          <p:nvPr/>
        </p:nvSpPr>
        <p:spPr>
          <a:xfrm>
            <a:off x="6674708" y="3552319"/>
            <a:ext cx="99183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로그인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/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 선택</a:t>
            </a:r>
          </a:p>
        </p:txBody>
      </p: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4A608F30-4B0A-4751-8F6E-F6453B087D46}"/>
              </a:ext>
            </a:extLst>
          </p:cNvPr>
          <p:cNvCxnSpPr>
            <a:cxnSpLocks/>
          </p:cNvCxnSpPr>
          <p:nvPr/>
        </p:nvCxnSpPr>
        <p:spPr>
          <a:xfrm>
            <a:off x="6392188" y="3768606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84B62EAE-1DB9-4693-AF4D-11F73AB569D2}"/>
              </a:ext>
            </a:extLst>
          </p:cNvPr>
          <p:cNvSpPr txBox="1"/>
          <p:nvPr/>
        </p:nvSpPr>
        <p:spPr>
          <a:xfrm>
            <a:off x="6356180" y="3577580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06ED9E63-D342-4D1E-8224-20DB6EDF3E02}"/>
              </a:ext>
            </a:extLst>
          </p:cNvPr>
          <p:cNvSpPr/>
          <p:nvPr/>
        </p:nvSpPr>
        <p:spPr>
          <a:xfrm>
            <a:off x="6620352" y="2963392"/>
            <a:ext cx="1046188" cy="338554"/>
          </a:xfrm>
          <a:prstGeom prst="rect">
            <a:avLst/>
          </a:prstGeom>
          <a:solidFill>
            <a:schemeClr val="bg1"/>
          </a:solidFill>
          <a:ln w="9525" cap="rnd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altLang="ko-KR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‘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아이디와 비밀번호를 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확인해주세요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.’ </a:t>
            </a:r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얼럿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2" name="모서리가 둥근 직사각형 104">
            <a:extLst>
              <a:ext uri="{FF2B5EF4-FFF2-40B4-BE49-F238E27FC236}">
                <a16:creationId xmlns:a16="http://schemas.microsoft.com/office/drawing/2014/main" id="{0EA024F8-4549-49D7-9F99-C541691F7FAC}"/>
              </a:ext>
            </a:extLst>
          </p:cNvPr>
          <p:cNvSpPr/>
          <p:nvPr/>
        </p:nvSpPr>
        <p:spPr>
          <a:xfrm>
            <a:off x="6678996" y="2494795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3" name="모서리가 둥근 직사각형 104">
            <a:extLst>
              <a:ext uri="{FF2B5EF4-FFF2-40B4-BE49-F238E27FC236}">
                <a16:creationId xmlns:a16="http://schemas.microsoft.com/office/drawing/2014/main" id="{E117A3A4-F409-4769-BCE5-EFF79EB2140D}"/>
              </a:ext>
            </a:extLst>
          </p:cNvPr>
          <p:cNvSpPr/>
          <p:nvPr/>
        </p:nvSpPr>
        <p:spPr>
          <a:xfrm>
            <a:off x="7610948" y="5109847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회원가입완료</a:t>
            </a:r>
          </a:p>
        </p:txBody>
      </p:sp>
      <p:sp>
        <p:nvSpPr>
          <p:cNvPr id="124" name="사각형: 둥근 모서리 60">
            <a:extLst>
              <a:ext uri="{FF2B5EF4-FFF2-40B4-BE49-F238E27FC236}">
                <a16:creationId xmlns:a16="http://schemas.microsoft.com/office/drawing/2014/main" id="{6D517BE5-5820-4FA7-AA30-0798F23B821A}"/>
              </a:ext>
            </a:extLst>
          </p:cNvPr>
          <p:cNvSpPr/>
          <p:nvPr/>
        </p:nvSpPr>
        <p:spPr>
          <a:xfrm>
            <a:off x="7411504" y="4503420"/>
            <a:ext cx="1015830" cy="405323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본인인증 성공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E6B7CE6F-87EE-4B8D-9EEB-D2FB61A83886}"/>
              </a:ext>
            </a:extLst>
          </p:cNvPr>
          <p:cNvSpPr/>
          <p:nvPr/>
        </p:nvSpPr>
        <p:spPr>
          <a:xfrm>
            <a:off x="7906719" y="3544435"/>
            <a:ext cx="825822" cy="338554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필수 정보를 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입력하세요 </a:t>
            </a:r>
            <a:r>
              <a:rPr lang="ko-KR" altLang="en-US" sz="750" dirty="0" err="1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얼럿</a:t>
            </a:r>
            <a:endParaRPr lang="ko-KR" altLang="en-US" sz="750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6" name="사각형: 둥근 모서리 60">
            <a:extLst>
              <a:ext uri="{FF2B5EF4-FFF2-40B4-BE49-F238E27FC236}">
                <a16:creationId xmlns:a16="http://schemas.microsoft.com/office/drawing/2014/main" id="{9C717DB8-082D-4248-9FA1-17D421B49F8E}"/>
              </a:ext>
            </a:extLst>
          </p:cNvPr>
          <p:cNvSpPr/>
          <p:nvPr/>
        </p:nvSpPr>
        <p:spPr>
          <a:xfrm>
            <a:off x="7861180" y="2971098"/>
            <a:ext cx="958527" cy="390458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필수 정보</a:t>
            </a:r>
            <a:endParaRPr lang="en-US" altLang="ko-KR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입력 완료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59700E3-C420-4DAE-AC12-E40ADB0007FA}"/>
              </a:ext>
            </a:extLst>
          </p:cNvPr>
          <p:cNvSpPr txBox="1"/>
          <p:nvPr/>
        </p:nvSpPr>
        <p:spPr>
          <a:xfrm>
            <a:off x="7902272" y="490508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2FB92D1D-AA85-4916-BE42-58D5842D62E6}"/>
              </a:ext>
            </a:extLst>
          </p:cNvPr>
          <p:cNvCxnSpPr>
            <a:cxnSpLocks/>
          </p:cNvCxnSpPr>
          <p:nvPr/>
        </p:nvCxnSpPr>
        <p:spPr>
          <a:xfrm>
            <a:off x="7914084" y="4911824"/>
            <a:ext cx="2854" cy="144822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직사각형 128">
            <a:extLst>
              <a:ext uri="{FF2B5EF4-FFF2-40B4-BE49-F238E27FC236}">
                <a16:creationId xmlns:a16="http://schemas.microsoft.com/office/drawing/2014/main" id="{645A86E8-CF64-423B-B290-8D91DE80E34E}"/>
              </a:ext>
            </a:extLst>
          </p:cNvPr>
          <p:cNvSpPr/>
          <p:nvPr/>
        </p:nvSpPr>
        <p:spPr>
          <a:xfrm>
            <a:off x="7861181" y="2474600"/>
            <a:ext cx="914937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 중복 확인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체크</a:t>
            </a:r>
          </a:p>
        </p:txBody>
      </p:sp>
      <p:sp>
        <p:nvSpPr>
          <p:cNvPr id="130" name="모서리가 둥근 직사각형 104">
            <a:extLst>
              <a:ext uri="{FF2B5EF4-FFF2-40B4-BE49-F238E27FC236}">
                <a16:creationId xmlns:a16="http://schemas.microsoft.com/office/drawing/2014/main" id="{8FF5D88B-0288-45A5-B7B2-8B91E52FB7D9}"/>
              </a:ext>
            </a:extLst>
          </p:cNvPr>
          <p:cNvSpPr/>
          <p:nvPr/>
        </p:nvSpPr>
        <p:spPr>
          <a:xfrm>
            <a:off x="7878263" y="718900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로그인 양식 노출</a:t>
            </a:r>
          </a:p>
        </p:txBody>
      </p:sp>
      <p:sp>
        <p:nvSpPr>
          <p:cNvPr id="131" name="직사각형 130">
            <a:extLst>
              <a:ext uri="{FF2B5EF4-FFF2-40B4-BE49-F238E27FC236}">
                <a16:creationId xmlns:a16="http://schemas.microsoft.com/office/drawing/2014/main" id="{FF5AA647-487A-436D-8DDD-4CCD8C485968}"/>
              </a:ext>
            </a:extLst>
          </p:cNvPr>
          <p:cNvSpPr/>
          <p:nvPr/>
        </p:nvSpPr>
        <p:spPr>
          <a:xfrm>
            <a:off x="7811596" y="1780803"/>
            <a:ext cx="1024905" cy="50315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정보입력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(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, 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비밀번호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,</a:t>
            </a: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이름 등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)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0655824D-1A15-4E84-903E-DC4029DE47EC}"/>
              </a:ext>
            </a:extLst>
          </p:cNvPr>
          <p:cNvCxnSpPr>
            <a:cxnSpLocks/>
          </p:cNvCxnSpPr>
          <p:nvPr/>
        </p:nvCxnSpPr>
        <p:spPr>
          <a:xfrm>
            <a:off x="8312199" y="1633364"/>
            <a:ext cx="3453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5C737D50-1D16-445E-8640-6089C9491D8A}"/>
              </a:ext>
            </a:extLst>
          </p:cNvPr>
          <p:cNvCxnSpPr>
            <a:cxnSpLocks/>
          </p:cNvCxnSpPr>
          <p:nvPr/>
        </p:nvCxnSpPr>
        <p:spPr>
          <a:xfrm>
            <a:off x="8315652" y="2296676"/>
            <a:ext cx="3453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A00AA454-3404-49C9-889F-533559C3D472}"/>
              </a:ext>
            </a:extLst>
          </p:cNvPr>
          <p:cNvCxnSpPr>
            <a:cxnSpLocks/>
          </p:cNvCxnSpPr>
          <p:nvPr/>
        </p:nvCxnSpPr>
        <p:spPr>
          <a:xfrm>
            <a:off x="8315652" y="2822780"/>
            <a:ext cx="3453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4A0A67A8-5ACD-4818-96F0-9F4E41C4B4FD}"/>
              </a:ext>
            </a:extLst>
          </p:cNvPr>
          <p:cNvSpPr txBox="1"/>
          <p:nvPr/>
        </p:nvSpPr>
        <p:spPr>
          <a:xfrm>
            <a:off x="8345548" y="3361556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E146021F-D115-4513-ADBB-FAD4165A6982}"/>
              </a:ext>
            </a:extLst>
          </p:cNvPr>
          <p:cNvCxnSpPr>
            <a:cxnSpLocks/>
          </p:cNvCxnSpPr>
          <p:nvPr/>
        </p:nvCxnSpPr>
        <p:spPr>
          <a:xfrm>
            <a:off x="8308422" y="3386966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직선 화살표 연결선 136">
            <a:extLst>
              <a:ext uri="{FF2B5EF4-FFF2-40B4-BE49-F238E27FC236}">
                <a16:creationId xmlns:a16="http://schemas.microsoft.com/office/drawing/2014/main" id="{F6729F82-C4B0-4CB3-8541-0DE1575B1D00}"/>
              </a:ext>
            </a:extLst>
          </p:cNvPr>
          <p:cNvCxnSpPr>
            <a:cxnSpLocks/>
          </p:cNvCxnSpPr>
          <p:nvPr/>
        </p:nvCxnSpPr>
        <p:spPr>
          <a:xfrm>
            <a:off x="7815049" y="3715494"/>
            <a:ext cx="0" cy="29413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직선 화살표 연결선 137">
            <a:extLst>
              <a:ext uri="{FF2B5EF4-FFF2-40B4-BE49-F238E27FC236}">
                <a16:creationId xmlns:a16="http://schemas.microsoft.com/office/drawing/2014/main" id="{223B6717-BE5C-4A44-AA00-9858AED1C0B2}"/>
              </a:ext>
            </a:extLst>
          </p:cNvPr>
          <p:cNvCxnSpPr>
            <a:cxnSpLocks/>
          </p:cNvCxnSpPr>
          <p:nvPr/>
        </p:nvCxnSpPr>
        <p:spPr>
          <a:xfrm>
            <a:off x="7883604" y="4361621"/>
            <a:ext cx="3453" cy="144822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91EA718A-240D-427F-807F-252040AF9174}"/>
              </a:ext>
            </a:extLst>
          </p:cNvPr>
          <p:cNvCxnSpPr>
            <a:cxnSpLocks/>
          </p:cNvCxnSpPr>
          <p:nvPr/>
        </p:nvCxnSpPr>
        <p:spPr>
          <a:xfrm flipH="1">
            <a:off x="7686646" y="3143862"/>
            <a:ext cx="162310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CBD45D81-4F0E-4F82-BE64-80E71692095E}"/>
              </a:ext>
            </a:extLst>
          </p:cNvPr>
          <p:cNvSpPr txBox="1"/>
          <p:nvPr/>
        </p:nvSpPr>
        <p:spPr>
          <a:xfrm>
            <a:off x="7667580" y="2960866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484A5D49-07D7-45A2-A514-08AA1B823B6B}"/>
              </a:ext>
            </a:extLst>
          </p:cNvPr>
          <p:cNvCxnSpPr>
            <a:cxnSpLocks/>
          </p:cNvCxnSpPr>
          <p:nvPr/>
        </p:nvCxnSpPr>
        <p:spPr>
          <a:xfrm rot="5400000" flipH="1">
            <a:off x="4202813" y="2866647"/>
            <a:ext cx="162310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03969666-D64E-4BF4-9020-7A6A6753F7C6}"/>
              </a:ext>
            </a:extLst>
          </p:cNvPr>
          <p:cNvSpPr txBox="1"/>
          <p:nvPr/>
        </p:nvSpPr>
        <p:spPr>
          <a:xfrm>
            <a:off x="8353168" y="1057300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45" name="직선 화살표 연결선 144">
            <a:extLst>
              <a:ext uri="{FF2B5EF4-FFF2-40B4-BE49-F238E27FC236}">
                <a16:creationId xmlns:a16="http://schemas.microsoft.com/office/drawing/2014/main" id="{97538B48-9B25-433E-AE40-54D4E606EB35}"/>
              </a:ext>
            </a:extLst>
          </p:cNvPr>
          <p:cNvCxnSpPr>
            <a:cxnSpLocks/>
          </p:cNvCxnSpPr>
          <p:nvPr/>
        </p:nvCxnSpPr>
        <p:spPr>
          <a:xfrm>
            <a:off x="8308422" y="1071798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B4AD3167-1C6F-40E7-9B02-F93725D8C440}"/>
              </a:ext>
            </a:extLst>
          </p:cNvPr>
          <p:cNvSpPr/>
          <p:nvPr/>
        </p:nvSpPr>
        <p:spPr>
          <a:xfrm>
            <a:off x="6561002" y="1981279"/>
            <a:ext cx="994191" cy="369566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품절알림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’ </a:t>
            </a:r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메세지</a:t>
            </a:r>
            <a:endParaRPr lang="ko-KR" altLang="en-US" sz="750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715A1321-4E33-46BD-BDAD-83F9CDB11644}"/>
              </a:ext>
            </a:extLst>
          </p:cNvPr>
          <p:cNvCxnSpPr>
            <a:cxnSpLocks/>
          </p:cNvCxnSpPr>
          <p:nvPr/>
        </p:nvCxnSpPr>
        <p:spPr>
          <a:xfrm>
            <a:off x="7089427" y="2361094"/>
            <a:ext cx="2853" cy="152995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1E474169-F6F2-4569-8AFF-552BA87A289D}"/>
              </a:ext>
            </a:extLst>
          </p:cNvPr>
          <p:cNvCxnSpPr>
            <a:cxnSpLocks/>
          </p:cNvCxnSpPr>
          <p:nvPr/>
        </p:nvCxnSpPr>
        <p:spPr>
          <a:xfrm flipV="1">
            <a:off x="7092280" y="2874566"/>
            <a:ext cx="2853" cy="70301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1025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Display">
            <a:extLst>
              <a:ext uri="{FF2B5EF4-FFF2-40B4-BE49-F238E27FC236}">
                <a16:creationId xmlns:a16="http://schemas.microsoft.com/office/drawing/2014/main" id="{3A16EC33-B89C-4631-B8A9-894E0DE24846}"/>
              </a:ext>
            </a:extLst>
          </p:cNvPr>
          <p:cNvSpPr/>
          <p:nvPr/>
        </p:nvSpPr>
        <p:spPr>
          <a:xfrm>
            <a:off x="855068" y="741456"/>
            <a:ext cx="2157433" cy="406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3" name="Picture 2">
            <a:extLst>
              <a:ext uri="{FF2B5EF4-FFF2-40B4-BE49-F238E27FC236}">
                <a16:creationId xmlns:a16="http://schemas.microsoft.com/office/drawing/2014/main" id="{D2D92FDE-61C3-4B55-9ABE-E011104FA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1707" y="377404"/>
            <a:ext cx="2052000" cy="4449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4" name="Picture 4">
            <a:extLst>
              <a:ext uri="{FF2B5EF4-FFF2-40B4-BE49-F238E27FC236}">
                <a16:creationId xmlns:a16="http://schemas.microsoft.com/office/drawing/2014/main" id="{151B5ED9-D023-4F8F-BA0E-C879873EB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77332" y="409228"/>
            <a:ext cx="2106179" cy="4592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5" name="그룹 64">
            <a:extLst>
              <a:ext uri="{FF2B5EF4-FFF2-40B4-BE49-F238E27FC236}">
                <a16:creationId xmlns:a16="http://schemas.microsoft.com/office/drawing/2014/main" id="{8C79F0D8-7CAD-4630-BF9F-D0328D0BCC1E}"/>
              </a:ext>
            </a:extLst>
          </p:cNvPr>
          <p:cNvGrpSpPr/>
          <p:nvPr/>
        </p:nvGrpSpPr>
        <p:grpSpPr>
          <a:xfrm>
            <a:off x="658936" y="626314"/>
            <a:ext cx="388720" cy="200055"/>
            <a:chOff x="4727047" y="5307508"/>
            <a:chExt cx="388720" cy="200055"/>
          </a:xfrm>
        </p:grpSpPr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856DA23E-0395-4F06-B0C5-6660D48D5944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67" name="TextBox 27">
              <a:extLst>
                <a:ext uri="{FF2B5EF4-FFF2-40B4-BE49-F238E27FC236}">
                  <a16:creationId xmlns:a16="http://schemas.microsoft.com/office/drawing/2014/main" id="{FAF57EDB-7B1D-4552-9AD1-1FDB105962A0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7B56E43C-CD3B-471A-A1E4-8546FE2A9AFF}"/>
              </a:ext>
            </a:extLst>
          </p:cNvPr>
          <p:cNvSpPr/>
          <p:nvPr/>
        </p:nvSpPr>
        <p:spPr>
          <a:xfrm>
            <a:off x="853296" y="2255366"/>
            <a:ext cx="1079024" cy="254087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8CB361AB-062C-462F-9C86-A69602503DEA}"/>
              </a:ext>
            </a:extLst>
          </p:cNvPr>
          <p:cNvSpPr/>
          <p:nvPr/>
        </p:nvSpPr>
        <p:spPr>
          <a:xfrm>
            <a:off x="1932819" y="2255365"/>
            <a:ext cx="1079682" cy="2533459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F9727B9-9AEC-47CF-98B7-88A8DDB3CEC4}"/>
              </a:ext>
            </a:extLst>
          </p:cNvPr>
          <p:cNvSpPr txBox="1"/>
          <p:nvPr/>
        </p:nvSpPr>
        <p:spPr>
          <a:xfrm>
            <a:off x="869350" y="1673551"/>
            <a:ext cx="215516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IT </a:t>
            </a:r>
            <a:r>
              <a:rPr lang="ko-KR" altLang="en-US" sz="1000" b="1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아웃소싱</a:t>
            </a:r>
            <a:r>
              <a:rPr lang="ko-KR" altLang="en-US" sz="10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 플랫폼 </a:t>
            </a:r>
            <a:r>
              <a:rPr lang="ko-KR" altLang="en-US" sz="1000" b="1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endParaRPr lang="ko-KR" altLang="en-US" sz="10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29ECD87-B44B-4D61-938E-FCADD1D3679E}"/>
              </a:ext>
            </a:extLst>
          </p:cNvPr>
          <p:cNvSpPr txBox="1"/>
          <p:nvPr/>
        </p:nvSpPr>
        <p:spPr>
          <a:xfrm>
            <a:off x="1360073" y="1899147"/>
            <a:ext cx="1173718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Fast / Trust / Safe / Easy</a:t>
            </a:r>
            <a:endParaRPr lang="ko-KR" altLang="en-US" sz="7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01BCC18-8131-41FB-B057-8FC906B885A2}"/>
              </a:ext>
            </a:extLst>
          </p:cNvPr>
          <p:cNvSpPr txBox="1"/>
          <p:nvPr/>
        </p:nvSpPr>
        <p:spPr>
          <a:xfrm>
            <a:off x="873099" y="2400704"/>
            <a:ext cx="1079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프로젝트를 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의뢰하는 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클라이언트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D2479D5-DB39-44B3-A09B-6E6B296EBFE4}"/>
              </a:ext>
            </a:extLst>
          </p:cNvPr>
          <p:cNvSpPr txBox="1"/>
          <p:nvPr/>
        </p:nvSpPr>
        <p:spPr>
          <a:xfrm>
            <a:off x="1978576" y="2389029"/>
            <a:ext cx="1079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프로젝트를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수행하는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프리랜서</a:t>
            </a:r>
          </a:p>
        </p:txBody>
      </p:sp>
      <p:sp>
        <p:nvSpPr>
          <p:cNvPr id="81" name="모서리가 둥근 직사각형 23">
            <a:extLst>
              <a:ext uri="{FF2B5EF4-FFF2-40B4-BE49-F238E27FC236}">
                <a16:creationId xmlns:a16="http://schemas.microsoft.com/office/drawing/2014/main" id="{E4BA0A66-3D68-423D-ADAA-D2002D8CAEA8}"/>
              </a:ext>
            </a:extLst>
          </p:cNvPr>
          <p:cNvSpPr/>
          <p:nvPr/>
        </p:nvSpPr>
        <p:spPr>
          <a:xfrm>
            <a:off x="994193" y="3035360"/>
            <a:ext cx="818222" cy="251738"/>
          </a:xfrm>
          <a:prstGeom prst="roundRect">
            <a:avLst>
              <a:gd name="adj" fmla="val 50000"/>
            </a:avLst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5E94E669-F18F-4449-945B-2DDDEB25F006}"/>
              </a:ext>
            </a:extLst>
          </p:cNvPr>
          <p:cNvSpPr/>
          <p:nvPr/>
        </p:nvSpPr>
        <p:spPr>
          <a:xfrm>
            <a:off x="853296" y="4624233"/>
            <a:ext cx="2159205" cy="185216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1B2D425-2EC0-48A7-A46E-F10B5A03828C}"/>
              </a:ext>
            </a:extLst>
          </p:cNvPr>
          <p:cNvSpPr txBox="1"/>
          <p:nvPr/>
        </p:nvSpPr>
        <p:spPr>
          <a:xfrm>
            <a:off x="853296" y="4609394"/>
            <a:ext cx="213942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당신의 성공적인 </a:t>
            </a:r>
            <a:r>
              <a:rPr lang="en-US" altLang="ko-KR" sz="700" dirty="0">
                <a:solidFill>
                  <a:schemeClr val="bg1"/>
                </a:solidFill>
              </a:rPr>
              <a:t>IT </a:t>
            </a:r>
            <a:r>
              <a:rPr lang="ko-KR" altLang="en-US" sz="700" dirty="0" err="1">
                <a:solidFill>
                  <a:schemeClr val="bg1"/>
                </a:solidFill>
              </a:rPr>
              <a:t>아웃소싱을</a:t>
            </a:r>
            <a:r>
              <a:rPr lang="ko-KR" altLang="en-US" sz="700" dirty="0">
                <a:solidFill>
                  <a:schemeClr val="bg1"/>
                </a:solidFill>
              </a:rPr>
              <a:t> 응원합니다</a:t>
            </a:r>
            <a:r>
              <a:rPr lang="en-US" altLang="ko-KR" sz="700" dirty="0">
                <a:solidFill>
                  <a:schemeClr val="bg1"/>
                </a:solidFill>
              </a:rPr>
              <a:t>.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C8EC2F8-DF07-42DF-AF2E-43B8D15D8626}"/>
              </a:ext>
            </a:extLst>
          </p:cNvPr>
          <p:cNvSpPr txBox="1"/>
          <p:nvPr/>
        </p:nvSpPr>
        <p:spPr>
          <a:xfrm>
            <a:off x="1118611" y="3053507"/>
            <a:ext cx="5693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바로가기</a:t>
            </a:r>
            <a:endParaRPr lang="ko-KR" altLang="en-US" sz="8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5" name="모서리가 둥근 직사각형 39">
            <a:extLst>
              <a:ext uri="{FF2B5EF4-FFF2-40B4-BE49-F238E27FC236}">
                <a16:creationId xmlns:a16="http://schemas.microsoft.com/office/drawing/2014/main" id="{35F139CB-DEA2-4DB6-ACA5-E6905F0AFBFC}"/>
              </a:ext>
            </a:extLst>
          </p:cNvPr>
          <p:cNvSpPr/>
          <p:nvPr/>
        </p:nvSpPr>
        <p:spPr>
          <a:xfrm>
            <a:off x="2066471" y="3035360"/>
            <a:ext cx="818222" cy="251738"/>
          </a:xfrm>
          <a:prstGeom prst="roundRect">
            <a:avLst>
              <a:gd name="adj" fmla="val 50000"/>
            </a:avLst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DDA3C38-6A1D-4E8E-80C6-280735DD89E6}"/>
              </a:ext>
            </a:extLst>
          </p:cNvPr>
          <p:cNvSpPr txBox="1"/>
          <p:nvPr/>
        </p:nvSpPr>
        <p:spPr>
          <a:xfrm>
            <a:off x="2190889" y="3053507"/>
            <a:ext cx="5693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바로가기</a:t>
            </a:r>
            <a:endParaRPr lang="ko-KR" altLang="en-US" sz="8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87" name="그림 86">
            <a:extLst>
              <a:ext uri="{FF2B5EF4-FFF2-40B4-BE49-F238E27FC236}">
                <a16:creationId xmlns:a16="http://schemas.microsoft.com/office/drawing/2014/main" id="{266CDD17-082A-4CD5-BA5C-38396C58B66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988"/>
          <a:stretch/>
        </p:blipFill>
        <p:spPr>
          <a:xfrm>
            <a:off x="1083471" y="3568063"/>
            <a:ext cx="1700643" cy="1054612"/>
          </a:xfrm>
          <a:prstGeom prst="rect">
            <a:avLst/>
          </a:prstGeom>
        </p:spPr>
      </p:pic>
      <p:grpSp>
        <p:nvGrpSpPr>
          <p:cNvPr id="88" name="그룹 87">
            <a:extLst>
              <a:ext uri="{FF2B5EF4-FFF2-40B4-BE49-F238E27FC236}">
                <a16:creationId xmlns:a16="http://schemas.microsoft.com/office/drawing/2014/main" id="{DAC48BEF-E8F2-4A78-A767-BCEF95BCE393}"/>
              </a:ext>
            </a:extLst>
          </p:cNvPr>
          <p:cNvGrpSpPr/>
          <p:nvPr/>
        </p:nvGrpSpPr>
        <p:grpSpPr>
          <a:xfrm>
            <a:off x="844787" y="2940478"/>
            <a:ext cx="388720" cy="200055"/>
            <a:chOff x="4727047" y="5307508"/>
            <a:chExt cx="388720" cy="200055"/>
          </a:xfrm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4F620F9C-5706-46BC-9266-5F5917766FB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90" name="TextBox 27">
              <a:extLst>
                <a:ext uri="{FF2B5EF4-FFF2-40B4-BE49-F238E27FC236}">
                  <a16:creationId xmlns:a16="http://schemas.microsoft.com/office/drawing/2014/main" id="{81BA31C5-E6A1-490F-8175-4A37F199540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3C0DE1C6-36D5-4EAF-B092-3E54F90BF7B5}"/>
              </a:ext>
            </a:extLst>
          </p:cNvPr>
          <p:cNvGrpSpPr/>
          <p:nvPr/>
        </p:nvGrpSpPr>
        <p:grpSpPr>
          <a:xfrm>
            <a:off x="1919433" y="2940478"/>
            <a:ext cx="388720" cy="200055"/>
            <a:chOff x="4727047" y="5307508"/>
            <a:chExt cx="388720" cy="200055"/>
          </a:xfrm>
        </p:grpSpPr>
        <p:sp>
          <p:nvSpPr>
            <p:cNvPr id="92" name="타원 91">
              <a:extLst>
                <a:ext uri="{FF2B5EF4-FFF2-40B4-BE49-F238E27FC236}">
                  <a16:creationId xmlns:a16="http://schemas.microsoft.com/office/drawing/2014/main" id="{C50D1D52-F443-43AA-B347-55CECB59CDE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93" name="TextBox 27">
              <a:extLst>
                <a:ext uri="{FF2B5EF4-FFF2-40B4-BE49-F238E27FC236}">
                  <a16:creationId xmlns:a16="http://schemas.microsoft.com/office/drawing/2014/main" id="{698B4786-ABEA-42D0-A48C-8C48A92A8CC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94" name="Placeholder" descr="&lt;SmartSettings&gt;&lt;SmartResize enabled=&quot;True&quot; minWidth=&quot;0&quot; minHeight=&quot;0&quot; /&gt;&lt;/SmartSettings&gt;">
            <a:extLst>
              <a:ext uri="{FF2B5EF4-FFF2-40B4-BE49-F238E27FC236}">
                <a16:creationId xmlns:a16="http://schemas.microsoft.com/office/drawing/2014/main" id="{497C2CAF-2493-4CB5-BF81-547697439007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267014" y="1231936"/>
            <a:ext cx="1359836" cy="329108"/>
            <a:chOff x="3864744" y="2328044"/>
            <a:chExt cx="1008112" cy="1008112"/>
          </a:xfrm>
          <a:solidFill>
            <a:srgbClr val="FFFFFF"/>
          </a:solidFill>
        </p:grpSpPr>
        <p:grpSp>
          <p:nvGrpSpPr>
            <p:cNvPr id="95" name="Placeholder">
              <a:extLst>
                <a:ext uri="{FF2B5EF4-FFF2-40B4-BE49-F238E27FC236}">
                  <a16:creationId xmlns:a16="http://schemas.microsoft.com/office/drawing/2014/main" id="{34C25DA5-0D13-407A-9F60-C64D718CD39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64744" y="2328044"/>
              <a:ext cx="1008112" cy="1008112"/>
              <a:chOff x="508000" y="1397000"/>
              <a:chExt cx="1008112" cy="1008112"/>
            </a:xfrm>
            <a:grpFill/>
          </p:grpSpPr>
          <p:sp>
            <p:nvSpPr>
              <p:cNvPr id="97" name="Border">
                <a:extLst>
                  <a:ext uri="{FF2B5EF4-FFF2-40B4-BE49-F238E27FC236}">
                    <a16:creationId xmlns:a16="http://schemas.microsoft.com/office/drawing/2014/main" id="{947ABEC9-B148-464E-9328-5AC8EAC45B9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prstGeom prst="rect">
                <a:avLst/>
              </a:pr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8" name="Line 2">
                <a:extLst>
                  <a:ext uri="{FF2B5EF4-FFF2-40B4-BE49-F238E27FC236}">
                    <a16:creationId xmlns:a16="http://schemas.microsoft.com/office/drawing/2014/main" id="{87F9FF62-D0A8-4F20-AD9A-5A906086579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custGeom>
                <a:avLst/>
                <a:gdLst>
                  <a:gd name="connsiteX0" fmla="*/ 0 w 1008112"/>
                  <a:gd name="connsiteY0" fmla="*/ 1008112 h 1008112"/>
                  <a:gd name="connsiteX1" fmla="*/ 1008112 w 1008112"/>
                  <a:gd name="connsiteY1" fmla="*/ 0 h 1008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8112" h="1008112">
                    <a:moveTo>
                      <a:pt x="0" y="1008112"/>
                    </a:moveTo>
                    <a:lnTo>
                      <a:pt x="1008112" y="0"/>
                    </a:lnTo>
                  </a:path>
                </a:pathLst>
              </a:cu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9" name="Line 1">
                <a:extLst>
                  <a:ext uri="{FF2B5EF4-FFF2-40B4-BE49-F238E27FC236}">
                    <a16:creationId xmlns:a16="http://schemas.microsoft.com/office/drawing/2014/main" id="{C50C0B86-4C61-4E09-AF85-9F6D4C6C7B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custGeom>
                <a:avLst/>
                <a:gdLst>
                  <a:gd name="connsiteX0" fmla="*/ 1008112 w 1008112"/>
                  <a:gd name="connsiteY0" fmla="*/ 1008112 h 1008112"/>
                  <a:gd name="connsiteX1" fmla="*/ 0 w 1008112"/>
                  <a:gd name="connsiteY1" fmla="*/ 0 h 1008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8112" h="1008112">
                    <a:moveTo>
                      <a:pt x="1008112" y="1008112"/>
                    </a:moveTo>
                    <a:lnTo>
                      <a:pt x="0" y="0"/>
                    </a:lnTo>
                  </a:path>
                </a:pathLst>
              </a:cu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96" name="Label" descr="&lt;SmartSettings&gt;&lt;SmartResize anchorLeft=&quot;Relative&quot; anchorTop=&quot;None&quot; anchorRight=&quot;Relative&quot; anchorBottom=&quot;None&quot; /&gt;&lt;/SmartSettings&gt;">
              <a:extLst>
                <a:ext uri="{FF2B5EF4-FFF2-40B4-BE49-F238E27FC236}">
                  <a16:creationId xmlns:a16="http://schemas.microsoft.com/office/drawing/2014/main" id="{26545CD3-0C36-4680-928A-BCDCCA32EB73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4090625" y="2506844"/>
              <a:ext cx="556354" cy="650512"/>
            </a:xfrm>
            <a:prstGeom prst="rect">
              <a:avLst/>
            </a:prstGeom>
            <a:grp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9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Logo image</a:t>
              </a:r>
            </a:p>
          </p:txBody>
        </p:sp>
      </p:grp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808A9BE6-31E1-4BC3-907E-F0F3E67FF122}"/>
              </a:ext>
            </a:extLst>
          </p:cNvPr>
          <p:cNvGrpSpPr/>
          <p:nvPr/>
        </p:nvGrpSpPr>
        <p:grpSpPr>
          <a:xfrm>
            <a:off x="924251" y="3525805"/>
            <a:ext cx="388720" cy="200055"/>
            <a:chOff x="4727047" y="5307508"/>
            <a:chExt cx="388720" cy="200055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0A38F7D7-9FF0-4557-9E69-5F8AD4241A9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02" name="TextBox 27">
              <a:extLst>
                <a:ext uri="{FF2B5EF4-FFF2-40B4-BE49-F238E27FC236}">
                  <a16:creationId xmlns:a16="http://schemas.microsoft.com/office/drawing/2014/main" id="{9BA99754-36E1-411A-950A-CAABE565FDFB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6C1FD548-8D64-4D7E-B72C-C0B51F2EDA9D}"/>
              </a:ext>
            </a:extLst>
          </p:cNvPr>
          <p:cNvSpPr/>
          <p:nvPr/>
        </p:nvSpPr>
        <p:spPr>
          <a:xfrm>
            <a:off x="3962965" y="1705519"/>
            <a:ext cx="2349484" cy="368634"/>
          </a:xfrm>
          <a:prstGeom prst="roundRect">
            <a:avLst>
              <a:gd name="adj" fmla="val 50000"/>
            </a:avLst>
          </a:prstGeom>
          <a:solidFill>
            <a:srgbClr val="FFFFE1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기획서 토대로 나온 디자인</a:t>
            </a:r>
            <a:r>
              <a:rPr lang="en-US" altLang="ko-KR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</a:t>
            </a:r>
            <a:r>
              <a:rPr lang="ko-KR" altLang="en-US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개발 산출물</a:t>
            </a: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ACB4A5E4-701B-4783-BCB3-212901B9167D}"/>
              </a:ext>
            </a:extLst>
          </p:cNvPr>
          <p:cNvCxnSpPr/>
          <p:nvPr/>
        </p:nvCxnSpPr>
        <p:spPr>
          <a:xfrm>
            <a:off x="3360013" y="1893562"/>
            <a:ext cx="360040" cy="0"/>
          </a:xfrm>
          <a:prstGeom prst="straightConnector1">
            <a:avLst/>
          </a:prstGeom>
          <a:ln w="12700">
            <a:solidFill>
              <a:srgbClr val="FF0000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4010557"/>
              </p:ext>
            </p:extLst>
          </p:nvPr>
        </p:nvGraphicFramePr>
        <p:xfrm>
          <a:off x="6979021" y="0"/>
          <a:ext cx="2164979" cy="27070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모바일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웹 랜딩 페이지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최초접속 또는 비 로그인 상태에서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m.freemoa.net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접속 시 페이지 노출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페이지 이동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m.freemoa.net/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cmain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프리랜서 페이지 이동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m.freemoa.net/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fmain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0214455"/>
              </p:ext>
            </p:extLst>
          </p:nvPr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프리모아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로고 포함 디자인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메인 랜딩이기 때문에 간결하고 컬러는 로고 내 컬러와 통일감을 주되 신뢰감 있는 컬러 위주로 사용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가독성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중요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명확히 구분되는 버튼 컬러 사용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일러스트로 이미지 삽입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110" name="그래픽 109">
            <a:extLst>
              <a:ext uri="{FF2B5EF4-FFF2-40B4-BE49-F238E27FC236}">
                <a16:creationId xmlns:a16="http://schemas.microsoft.com/office/drawing/2014/main" id="{63D2007D-8014-4A1D-A365-0EB97054D64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91670" y="4625863"/>
            <a:ext cx="226966" cy="17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910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8" name="표 57"/>
          <p:cNvGraphicFramePr>
            <a:graphicFrameLocks noGrp="1"/>
          </p:cNvGraphicFramePr>
          <p:nvPr/>
        </p:nvGraphicFramePr>
        <p:xfrm>
          <a:off x="6979021" y="0"/>
          <a:ext cx="2164979" cy="27070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모바일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웹 랜딩 페이지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최초접속 또는 비 로그인 상태에서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m.freemoa.net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접속 시 페이지 노출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페이지 이동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m.freemoa.net/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cmain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프리랜서 페이지 이동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m.freemoa.net/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fmain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/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프리모아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로고 포함 디자인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메인 랜딩이기 때문에 간결하고 컬러는 로고 내 컬러와 통일감을 주되 신뢰감 있는 컬러 위주로 사용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가독성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중요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명확히 구분되는 버튼 컬러 사용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일러스트로 이미지 삽입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82589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" name="표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3626419"/>
              </p:ext>
            </p:extLst>
          </p:nvPr>
        </p:nvGraphicFramePr>
        <p:xfrm>
          <a:off x="6979021" y="0"/>
          <a:ext cx="2164979" cy="479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기본정보 페이지를 프로젝트 리스트 디폴트로 노출</a:t>
                      </a:r>
                      <a:endParaRPr lang="en-US" altLang="ko-KR" sz="700" b="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검색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필터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소팅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바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필터에 따라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소팅이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구분됨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.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82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즐겨찾기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☆표시는 비회원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파트너 회원에만 노출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노출하지 않음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제목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|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등록일자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모집중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상주여부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신규여부 체크 마크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989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예산 만원단위로 작성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기간 </a:t>
                      </a:r>
                      <a:r>
                        <a:rPr lang="ko-KR" altLang="en-US" sz="700" baseline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일단위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노출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마감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D-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로 표기하되 마감 당일의 경우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HH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시간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MM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분 으로 표기하며 마감 후에는 마감 표기함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지원자 수가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99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가 넘는 경우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99+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로 표기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기획단계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단계 노출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아이디어단계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기능정의서 작성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기획서 </a:t>
                      </a:r>
                      <a:r>
                        <a:rPr lang="ko-KR" altLang="en-US" sz="700" baseline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작성중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상세기획서 작성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263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프로젝트 분야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차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+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하위분야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|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필요기술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프로젝트 상세내용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줄까지 노출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+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말줄임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표기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ID,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프로필이미지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회사소개 작성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56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리스트는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10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개까지 노출 후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페이징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처리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8" name="그림 57">
            <a:extLst>
              <a:ext uri="{FF2B5EF4-FFF2-40B4-BE49-F238E27FC236}">
                <a16:creationId xmlns:a16="http://schemas.microsoft.com/office/drawing/2014/main" id="{CE89E14B-E870-4DB4-8CF0-F21D7A38B5F0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6" t="7518" r="20078" b="42250"/>
          <a:stretch/>
        </p:blipFill>
        <p:spPr>
          <a:xfrm>
            <a:off x="107504" y="382987"/>
            <a:ext cx="6669283" cy="5130914"/>
          </a:xfrm>
          <a:prstGeom prst="rect">
            <a:avLst/>
          </a:prstGeom>
        </p:spPr>
      </p:pic>
      <p:grpSp>
        <p:nvGrpSpPr>
          <p:cNvPr id="59" name="Window" descr="&lt;SmartSettings&gt;&lt;SmartResize enabled=&quot;True&quot; minWidth=&quot;0&quot; minHeight=&quot;0&quot; /&gt;&lt;/SmartSettings&gt;">
            <a:extLst>
              <a:ext uri="{FF2B5EF4-FFF2-40B4-BE49-F238E27FC236}">
                <a16:creationId xmlns:a16="http://schemas.microsoft.com/office/drawing/2014/main" id="{17A3767D-4FFE-499D-865D-A0D53FB00562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07504" y="265212"/>
            <a:ext cx="6780333" cy="5248689"/>
            <a:chOff x="660249" y="1104551"/>
            <a:chExt cx="6453531" cy="4963332"/>
          </a:xfrm>
        </p:grpSpPr>
        <p:grpSp>
          <p:nvGrpSpPr>
            <p:cNvPr id="60" name="Title Bar">
              <a:extLst>
                <a:ext uri="{FF2B5EF4-FFF2-40B4-BE49-F238E27FC236}">
                  <a16:creationId xmlns:a16="http://schemas.microsoft.com/office/drawing/2014/main" id="{0E65BE8F-3D25-4605-A7BB-A108DA76A9E1}"/>
                </a:ext>
              </a:extLst>
            </p:cNvPr>
            <p:cNvGrpSpPr/>
            <p:nvPr userDrawn="1"/>
          </p:nvGrpSpPr>
          <p:grpSpPr>
            <a:xfrm>
              <a:off x="660249" y="1104551"/>
              <a:ext cx="6453530" cy="216330"/>
              <a:chOff x="990598" y="1423196"/>
              <a:chExt cx="6401694" cy="26650"/>
            </a:xfrm>
            <a:solidFill>
              <a:srgbClr val="FFFFFF"/>
            </a:solidFill>
          </p:grpSpPr>
          <p:sp>
            <p:nvSpPr>
              <p:cNvPr id="62" name="Title Bar Background" descr="&lt;SmartSettings&gt;&lt;SmartResize anchorLeft=&quot;Absolut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57F5F230-AEB8-41FE-92CB-A164696AAFCE}"/>
                  </a:ext>
                </a:extLst>
              </p:cNvPr>
              <p:cNvSpPr/>
              <p:nvPr userDrawn="1">
                <p:custDataLst>
                  <p:tags r:id="rId7"/>
                </p:custDataLst>
              </p:nvPr>
            </p:nvSpPr>
            <p:spPr>
              <a:xfrm>
                <a:off x="990598" y="1423196"/>
                <a:ext cx="6401694" cy="26650"/>
              </a:xfrm>
              <a:prstGeom prst="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54864"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안전한 </a:t>
                </a:r>
                <a:r>
                  <a:rPr lang="en-US" altLang="ko-KR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IT </a:t>
                </a:r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외주</a:t>
                </a:r>
                <a:r>
                  <a:rPr lang="en-US" altLang="ko-KR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:</a:t>
                </a:r>
                <a:r>
                  <a:rPr lang="ko-KR" altLang="en-US" sz="680" dirty="0" err="1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아웃소싱</a:t>
                </a:r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 플랫폼 </a:t>
                </a:r>
                <a:r>
                  <a:rPr lang="ko-KR" altLang="en-US" sz="680" dirty="0" err="1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프리모아</a:t>
                </a:r>
                <a:endParaRPr lang="en-US" sz="680" dirty="0">
                  <a:solidFill>
                    <a:srgbClr val="000000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  <a:cs typeface="Segoe UI" panose="020B0502040204020203" pitchFamily="34" charset="0"/>
                </a:endParaRPr>
              </a:p>
            </p:txBody>
          </p:sp>
          <p:sp>
            <p:nvSpPr>
              <p:cNvPr id="63" name="Minimiz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368CF59C-58B5-4CF8-A6CB-12F170516476}"/>
                  </a:ext>
                </a:extLst>
              </p:cNvPr>
              <p:cNvSpPr>
                <a:spLocks noChangeAspect="1" noChangeArrowhead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570603" y="1435596"/>
                <a:ext cx="70446" cy="925"/>
              </a:xfrm>
              <a:prstGeom prst="rect">
                <a:avLst/>
              </a:prstGeom>
              <a:solidFill>
                <a:srgbClr val="000000"/>
              </a:solidFill>
              <a:ln w="0">
                <a:noFill/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4" name="Maximiz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0E01F9AD-6384-4C57-B4DE-9C69BBAAED52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6883862" y="1431617"/>
                <a:ext cx="68947" cy="8883"/>
              </a:xfrm>
              <a:custGeom>
                <a:avLst/>
                <a:gdLst>
                  <a:gd name="T0" fmla="*/ 0 w 282"/>
                  <a:gd name="T1" fmla="*/ 0 h 282"/>
                  <a:gd name="T2" fmla="*/ 0 w 282"/>
                  <a:gd name="T3" fmla="*/ 282 h 282"/>
                  <a:gd name="T4" fmla="*/ 282 w 282"/>
                  <a:gd name="T5" fmla="*/ 282 h 282"/>
                  <a:gd name="T6" fmla="*/ 282 w 282"/>
                  <a:gd name="T7" fmla="*/ 0 h 282"/>
                  <a:gd name="T8" fmla="*/ 0 w 282"/>
                  <a:gd name="T9" fmla="*/ 0 h 282"/>
                  <a:gd name="T10" fmla="*/ 28 w 282"/>
                  <a:gd name="T11" fmla="*/ 28 h 282"/>
                  <a:gd name="T12" fmla="*/ 254 w 282"/>
                  <a:gd name="T13" fmla="*/ 28 h 282"/>
                  <a:gd name="T14" fmla="*/ 254 w 282"/>
                  <a:gd name="T15" fmla="*/ 254 h 282"/>
                  <a:gd name="T16" fmla="*/ 28 w 282"/>
                  <a:gd name="T17" fmla="*/ 254 h 282"/>
                  <a:gd name="T18" fmla="*/ 28 w 282"/>
                  <a:gd name="T19" fmla="*/ 28 h 2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82" h="282">
                    <a:moveTo>
                      <a:pt x="0" y="0"/>
                    </a:moveTo>
                    <a:lnTo>
                      <a:pt x="0" y="282"/>
                    </a:lnTo>
                    <a:lnTo>
                      <a:pt x="282" y="282"/>
                    </a:lnTo>
                    <a:lnTo>
                      <a:pt x="282" y="0"/>
                    </a:lnTo>
                    <a:lnTo>
                      <a:pt x="0" y="0"/>
                    </a:lnTo>
                    <a:close/>
                    <a:moveTo>
                      <a:pt x="28" y="28"/>
                    </a:moveTo>
                    <a:lnTo>
                      <a:pt x="254" y="28"/>
                    </a:lnTo>
                    <a:lnTo>
                      <a:pt x="254" y="254"/>
                    </a:lnTo>
                    <a:lnTo>
                      <a:pt x="28" y="254"/>
                    </a:lnTo>
                    <a:lnTo>
                      <a:pt x="28" y="28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5" name="Clos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8909B04E-1520-4178-B37F-EC07ACC6717D}"/>
                  </a:ext>
                </a:extLst>
              </p:cNvPr>
              <p:cNvSpPr>
                <a:spLocks noChangeAspect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7197121" y="1431433"/>
                <a:ext cx="70446" cy="9254"/>
              </a:xfrm>
              <a:custGeom>
                <a:avLst/>
                <a:gdLst>
                  <a:gd name="T0" fmla="*/ 3 w 47"/>
                  <a:gd name="T1" fmla="*/ 0 h 50"/>
                  <a:gd name="T2" fmla="*/ 0 w 47"/>
                  <a:gd name="T3" fmla="*/ 3 h 50"/>
                  <a:gd name="T4" fmla="*/ 20 w 47"/>
                  <a:gd name="T5" fmla="*/ 25 h 50"/>
                  <a:gd name="T6" fmla="*/ 0 w 47"/>
                  <a:gd name="T7" fmla="*/ 46 h 50"/>
                  <a:gd name="T8" fmla="*/ 3 w 47"/>
                  <a:gd name="T9" fmla="*/ 50 h 50"/>
                  <a:gd name="T10" fmla="*/ 23 w 47"/>
                  <a:gd name="T11" fmla="*/ 28 h 50"/>
                  <a:gd name="T12" fmla="*/ 44 w 47"/>
                  <a:gd name="T13" fmla="*/ 49 h 50"/>
                  <a:gd name="T14" fmla="*/ 47 w 47"/>
                  <a:gd name="T15" fmla="*/ 46 h 50"/>
                  <a:gd name="T16" fmla="*/ 27 w 47"/>
                  <a:gd name="T17" fmla="*/ 25 h 50"/>
                  <a:gd name="T18" fmla="*/ 47 w 47"/>
                  <a:gd name="T19" fmla="*/ 3 h 50"/>
                  <a:gd name="T20" fmla="*/ 44 w 47"/>
                  <a:gd name="T21" fmla="*/ 0 h 50"/>
                  <a:gd name="T22" fmla="*/ 24 w 47"/>
                  <a:gd name="T23" fmla="*/ 21 h 50"/>
                  <a:gd name="T24" fmla="*/ 3 w 47"/>
                  <a:gd name="T25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7" h="50">
                    <a:moveTo>
                      <a:pt x="3" y="0"/>
                    </a:moveTo>
                    <a:lnTo>
                      <a:pt x="0" y="3"/>
                    </a:lnTo>
                    <a:lnTo>
                      <a:pt x="20" y="25"/>
                    </a:lnTo>
                    <a:lnTo>
                      <a:pt x="0" y="46"/>
                    </a:lnTo>
                    <a:lnTo>
                      <a:pt x="3" y="50"/>
                    </a:lnTo>
                    <a:lnTo>
                      <a:pt x="23" y="28"/>
                    </a:lnTo>
                    <a:lnTo>
                      <a:pt x="44" y="49"/>
                    </a:lnTo>
                    <a:lnTo>
                      <a:pt x="47" y="46"/>
                    </a:lnTo>
                    <a:lnTo>
                      <a:pt x="27" y="25"/>
                    </a:lnTo>
                    <a:lnTo>
                      <a:pt x="47" y="3"/>
                    </a:lnTo>
                    <a:lnTo>
                      <a:pt x="44" y="0"/>
                    </a:lnTo>
                    <a:lnTo>
                      <a:pt x="24" y="2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61" name="Window Frame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9BAC544-82CB-4613-AF2C-9C9033A1392A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660249" y="1104551"/>
              <a:ext cx="6453531" cy="4963332"/>
            </a:xfrm>
            <a:prstGeom prst="rect">
              <a:avLst/>
            </a:prstGeom>
            <a:noFill/>
            <a:ln w="635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54864" rtlCol="0" anchor="t" anchorCtr="0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680" dirty="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E938F296-3CBB-4AEF-BFAD-8D6B891847A7}"/>
              </a:ext>
            </a:extLst>
          </p:cNvPr>
          <p:cNvGrpSpPr/>
          <p:nvPr/>
        </p:nvGrpSpPr>
        <p:grpSpPr>
          <a:xfrm>
            <a:off x="172496" y="1034019"/>
            <a:ext cx="388720" cy="200055"/>
            <a:chOff x="4727047" y="5307508"/>
            <a:chExt cx="388720" cy="200055"/>
          </a:xfrm>
        </p:grpSpPr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9CD74E47-13E3-4B6E-9061-F5831E4DE6D0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68" name="TextBox 27">
              <a:extLst>
                <a:ext uri="{FF2B5EF4-FFF2-40B4-BE49-F238E27FC236}">
                  <a16:creationId xmlns:a16="http://schemas.microsoft.com/office/drawing/2014/main" id="{382B27B6-00DC-45EC-AF1D-FB3E028F928C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9F7ADFB7-FFB8-42CC-B91C-FE4B30FC664E}"/>
              </a:ext>
            </a:extLst>
          </p:cNvPr>
          <p:cNvCxnSpPr/>
          <p:nvPr/>
        </p:nvCxnSpPr>
        <p:spPr>
          <a:xfrm flipH="1">
            <a:off x="107504" y="492497"/>
            <a:ext cx="6784334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Scrollbar" descr="&lt;SmartSettings&gt;&lt;SmartResize enabled=&quot;True&quot; minWidth=&quot;4.5&quot; minHeight=&quot;18&quot; /&gt;&lt;/SmartSettings&gt;">
            <a:extLst>
              <a:ext uri="{FF2B5EF4-FFF2-40B4-BE49-F238E27FC236}">
                <a16:creationId xmlns:a16="http://schemas.microsoft.com/office/drawing/2014/main" id="{5865A340-0382-41FE-815A-BE61AB163ACE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6791075" y="512770"/>
            <a:ext cx="85725" cy="5004000"/>
            <a:chOff x="5794310" y="1229599"/>
            <a:chExt cx="85725" cy="2743200"/>
          </a:xfrm>
        </p:grpSpPr>
        <p:sp>
          <p:nvSpPr>
            <p:cNvPr id="71" name="Track">
              <a:extLst>
                <a:ext uri="{FF2B5EF4-FFF2-40B4-BE49-F238E27FC236}">
                  <a16:creationId xmlns:a16="http://schemas.microsoft.com/office/drawing/2014/main" id="{27F16E21-35AB-426E-B230-36413C902A8D}"/>
                </a:ext>
              </a:extLst>
            </p:cNvPr>
            <p:cNvSpPr/>
            <p:nvPr/>
          </p:nvSpPr>
          <p:spPr>
            <a:xfrm>
              <a:off x="5794310" y="1229599"/>
              <a:ext cx="85725" cy="2743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Thumb" descr="&lt;SmartSettings&gt;&lt;SmartResize anchorLeft=&quot;Absolute&quot; anchorTop=&quot;Absolute&quot; anchorRight=&quot;Absolute&quot; anchorBottom=&quot;Relative&quot; /&gt;&lt;/SmartSettings&gt;">
              <a:extLst>
                <a:ext uri="{FF2B5EF4-FFF2-40B4-BE49-F238E27FC236}">
                  <a16:creationId xmlns:a16="http://schemas.microsoft.com/office/drawing/2014/main" id="{1EE7E916-676D-4FDA-8BEE-85757E940E57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5794310" y="1276592"/>
              <a:ext cx="85725" cy="1668382"/>
            </a:xfrm>
            <a:prstGeom prst="rect">
              <a:avLst/>
            </a:prstGeom>
            <a:solidFill>
              <a:srgbClr val="C2C2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Arrow Up" descr="&lt;SmartSettings&gt;&lt;SmartResize anchorLeft=&quot;Non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10C97E80-C5E5-4232-A5A1-52A138E5973C}"/>
                </a:ext>
              </a:extLst>
            </p:cNvPr>
            <p:cNvSpPr>
              <a:spLocks noChangeAspect="1"/>
            </p:cNvSpPr>
            <p:nvPr>
              <p:custDataLst>
                <p:tags r:id="rId4"/>
              </p:custDataLst>
            </p:nvPr>
          </p:nvSpPr>
          <p:spPr bwMode="auto">
            <a:xfrm>
              <a:off x="5808597" y="1244393"/>
              <a:ext cx="57150" cy="17405"/>
            </a:xfrm>
            <a:custGeom>
              <a:avLst/>
              <a:gdLst>
                <a:gd name="T0" fmla="*/ 205 w 205"/>
                <a:gd name="T1" fmla="*/ 94 h 116"/>
                <a:gd name="T2" fmla="*/ 103 w 205"/>
                <a:gd name="T3" fmla="*/ 0 h 116"/>
                <a:gd name="T4" fmla="*/ 0 w 205"/>
                <a:gd name="T5" fmla="*/ 94 h 116"/>
                <a:gd name="T6" fmla="*/ 20 w 205"/>
                <a:gd name="T7" fmla="*/ 116 h 116"/>
                <a:gd name="T8" fmla="*/ 103 w 205"/>
                <a:gd name="T9" fmla="*/ 39 h 116"/>
                <a:gd name="T10" fmla="*/ 187 w 205"/>
                <a:gd name="T11" fmla="*/ 116 h 116"/>
                <a:gd name="T12" fmla="*/ 205 w 205"/>
                <a:gd name="T13" fmla="*/ 94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5" h="116">
                  <a:moveTo>
                    <a:pt x="205" y="94"/>
                  </a:moveTo>
                  <a:cubicBezTo>
                    <a:pt x="171" y="63"/>
                    <a:pt x="137" y="31"/>
                    <a:pt x="103" y="0"/>
                  </a:cubicBezTo>
                  <a:cubicBezTo>
                    <a:pt x="69" y="31"/>
                    <a:pt x="35" y="63"/>
                    <a:pt x="0" y="94"/>
                  </a:cubicBezTo>
                  <a:lnTo>
                    <a:pt x="20" y="116"/>
                  </a:lnTo>
                  <a:lnTo>
                    <a:pt x="103" y="39"/>
                  </a:lnTo>
                  <a:lnTo>
                    <a:pt x="187" y="116"/>
                  </a:lnTo>
                  <a:lnTo>
                    <a:pt x="205" y="94"/>
                  </a:lnTo>
                  <a:close/>
                </a:path>
              </a:pathLst>
            </a:custGeom>
            <a:solidFill>
              <a:srgbClr val="999999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4" name="Arrow Down" descr="&lt;SmartSettings&gt;&lt;SmartResize anchorLeft=&quot;None&quot; anchorTop=&quot;None&quot; anchorRight=&quot;None&quot; anchorBottom=&quot;Absolute&quot; /&gt;&lt;/SmartSettings&gt;">
              <a:extLst>
                <a:ext uri="{FF2B5EF4-FFF2-40B4-BE49-F238E27FC236}">
                  <a16:creationId xmlns:a16="http://schemas.microsoft.com/office/drawing/2014/main" id="{8E8DC1AD-272A-40A2-8685-30B55776079C}"/>
                </a:ext>
              </a:extLst>
            </p:cNvPr>
            <p:cNvSpPr>
              <a:spLocks noChangeAspect="1"/>
            </p:cNvSpPr>
            <p:nvPr>
              <p:custDataLst>
                <p:tags r:id="rId5"/>
              </p:custDataLst>
            </p:nvPr>
          </p:nvSpPr>
          <p:spPr bwMode="auto">
            <a:xfrm>
              <a:off x="5808597" y="3940598"/>
              <a:ext cx="57150" cy="17405"/>
            </a:xfrm>
            <a:custGeom>
              <a:avLst/>
              <a:gdLst>
                <a:gd name="T0" fmla="*/ 0 w 205"/>
                <a:gd name="T1" fmla="*/ 22 h 116"/>
                <a:gd name="T2" fmla="*/ 102 w 205"/>
                <a:gd name="T3" fmla="*/ 116 h 116"/>
                <a:gd name="T4" fmla="*/ 205 w 205"/>
                <a:gd name="T5" fmla="*/ 22 h 116"/>
                <a:gd name="T6" fmla="*/ 185 w 205"/>
                <a:gd name="T7" fmla="*/ 0 h 116"/>
                <a:gd name="T8" fmla="*/ 102 w 205"/>
                <a:gd name="T9" fmla="*/ 77 h 116"/>
                <a:gd name="T10" fmla="*/ 18 w 205"/>
                <a:gd name="T11" fmla="*/ 0 h 116"/>
                <a:gd name="T12" fmla="*/ 0 w 205"/>
                <a:gd name="T13" fmla="*/ 22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5" h="116">
                  <a:moveTo>
                    <a:pt x="0" y="22"/>
                  </a:moveTo>
                  <a:cubicBezTo>
                    <a:pt x="34" y="53"/>
                    <a:pt x="68" y="85"/>
                    <a:pt x="102" y="116"/>
                  </a:cubicBezTo>
                  <a:cubicBezTo>
                    <a:pt x="136" y="85"/>
                    <a:pt x="170" y="53"/>
                    <a:pt x="205" y="22"/>
                  </a:cubicBezTo>
                  <a:lnTo>
                    <a:pt x="185" y="0"/>
                  </a:lnTo>
                  <a:lnTo>
                    <a:pt x="102" y="77"/>
                  </a:lnTo>
                  <a:lnTo>
                    <a:pt x="18" y="0"/>
                  </a:lnTo>
                  <a:lnTo>
                    <a:pt x="0" y="22"/>
                  </a:lnTo>
                  <a:close/>
                </a:path>
              </a:pathLst>
            </a:custGeom>
            <a:solidFill>
              <a:srgbClr val="999999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E72C7ECF-8CF7-44B1-8166-B55C9AFC91B8}"/>
              </a:ext>
            </a:extLst>
          </p:cNvPr>
          <p:cNvGrpSpPr/>
          <p:nvPr/>
        </p:nvGrpSpPr>
        <p:grpSpPr>
          <a:xfrm>
            <a:off x="2411760" y="646711"/>
            <a:ext cx="388720" cy="200055"/>
            <a:chOff x="4727047" y="5307508"/>
            <a:chExt cx="388720" cy="200055"/>
          </a:xfrm>
        </p:grpSpPr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FFE9A7B6-65D4-4244-A87B-7E569FE8A425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77" name="TextBox 27">
              <a:extLst>
                <a:ext uri="{FF2B5EF4-FFF2-40B4-BE49-F238E27FC236}">
                  <a16:creationId xmlns:a16="http://schemas.microsoft.com/office/drawing/2014/main" id="{A279F73A-952D-4D91-80D6-A9A74685707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C002215C-48AC-48BF-A5CE-762ECA316344}"/>
              </a:ext>
            </a:extLst>
          </p:cNvPr>
          <p:cNvGrpSpPr/>
          <p:nvPr/>
        </p:nvGrpSpPr>
        <p:grpSpPr>
          <a:xfrm>
            <a:off x="1403648" y="1189179"/>
            <a:ext cx="388720" cy="200055"/>
            <a:chOff x="4727047" y="5307508"/>
            <a:chExt cx="388720" cy="200055"/>
          </a:xfrm>
        </p:grpSpPr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99167820-1D25-468E-82A0-9E343CFBF6F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0" name="TextBox 27">
              <a:extLst>
                <a:ext uri="{FF2B5EF4-FFF2-40B4-BE49-F238E27FC236}">
                  <a16:creationId xmlns:a16="http://schemas.microsoft.com/office/drawing/2014/main" id="{D62C52A9-0388-4CAD-9D81-A684F5C092F6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65A42663-E527-4998-B98C-C9C39CE7510E}"/>
              </a:ext>
            </a:extLst>
          </p:cNvPr>
          <p:cNvGrpSpPr/>
          <p:nvPr/>
        </p:nvGrpSpPr>
        <p:grpSpPr>
          <a:xfrm>
            <a:off x="1403648" y="1512475"/>
            <a:ext cx="388720" cy="200055"/>
            <a:chOff x="4727047" y="5307508"/>
            <a:chExt cx="388720" cy="200055"/>
          </a:xfrm>
        </p:grpSpPr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BA6D0ECE-AFF8-4D31-A9A1-EFCD71CD50B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3" name="TextBox 27">
              <a:extLst>
                <a:ext uri="{FF2B5EF4-FFF2-40B4-BE49-F238E27FC236}">
                  <a16:creationId xmlns:a16="http://schemas.microsoft.com/office/drawing/2014/main" id="{1B745909-4DFC-4FAB-B1EB-C83E5540A97C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69CF5B0C-DDDA-42FD-9794-EAD4E6F635E8}"/>
              </a:ext>
            </a:extLst>
          </p:cNvPr>
          <p:cNvGrpSpPr/>
          <p:nvPr/>
        </p:nvGrpSpPr>
        <p:grpSpPr>
          <a:xfrm>
            <a:off x="1403648" y="2193128"/>
            <a:ext cx="388720" cy="200055"/>
            <a:chOff x="4727047" y="5307508"/>
            <a:chExt cx="388720" cy="200055"/>
          </a:xfrm>
        </p:grpSpPr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7C09F33C-0CAA-4608-8E46-2B8586D264A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6" name="TextBox 27">
              <a:extLst>
                <a:ext uri="{FF2B5EF4-FFF2-40B4-BE49-F238E27FC236}">
                  <a16:creationId xmlns:a16="http://schemas.microsoft.com/office/drawing/2014/main" id="{C5DD1A93-8C0C-4203-8F86-A0A69CAB375F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5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8AE5372E-37E4-4EFE-9E9A-3D9F44321368}"/>
              </a:ext>
            </a:extLst>
          </p:cNvPr>
          <p:cNvGrpSpPr/>
          <p:nvPr/>
        </p:nvGrpSpPr>
        <p:grpSpPr>
          <a:xfrm>
            <a:off x="3779912" y="5452006"/>
            <a:ext cx="388720" cy="200055"/>
            <a:chOff x="4727047" y="5307508"/>
            <a:chExt cx="388720" cy="200055"/>
          </a:xfrm>
        </p:grpSpPr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8B076208-1E0D-4BBF-A65C-9C03D4538C2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9" name="TextBox 27">
              <a:extLst>
                <a:ext uri="{FF2B5EF4-FFF2-40B4-BE49-F238E27FC236}">
                  <a16:creationId xmlns:a16="http://schemas.microsoft.com/office/drawing/2014/main" id="{1B92943C-60F3-428E-B2EE-6FDBC5E55BF6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6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3669275D-8D8B-4A36-A5C8-1D8DF856B5AB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7580C37D-C5BC-49C0-AC4F-EB7156D9082A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PC 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웹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5F867001-A216-422D-87D4-75179B1D7F37}"/>
              </a:ext>
            </a:extLst>
          </p:cNvPr>
          <p:cNvSpPr/>
          <p:nvPr/>
        </p:nvSpPr>
        <p:spPr>
          <a:xfrm>
            <a:off x="257370" y="4867392"/>
            <a:ext cx="8563102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PC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웹 또한 마찬가지로 와이어 프레임 형태로 기획서를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기획서 토대로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UX(User Experience)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에 맞춰 디자인을 하며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기획서와 구성요소는 같으나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가 변경되는 경우 개발에 이해를 돕기 위해 디자인 된 화면을 토대로 기획서를 다시 작성할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</p:txBody>
      </p:sp>
      <p:pic>
        <p:nvPicPr>
          <p:cNvPr id="94" name="그래픽 93">
            <a:extLst>
              <a:ext uri="{FF2B5EF4-FFF2-40B4-BE49-F238E27FC236}">
                <a16:creationId xmlns:a16="http://schemas.microsoft.com/office/drawing/2014/main" id="{50D35960-2C06-45AA-A6F7-1BBCE5ECB65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291670" y="4625863"/>
            <a:ext cx="226966" cy="17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35804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YNCVjCPV1IzMKXKl9/fgBjVQoFrENqHg4RSYVydCDrE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1La62eH0klTn4mRbYpIS0mKjIcnNm0nnu8iBNsuark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YNCVjCPV1IzMKXKl9/fgBjVQoFrENqHg4RSYVydCDrE=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eTlcZC8dv6qUg8uwGhFVuk2dyGOK09EyYw7znF4XrDo=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8QuzPSC+JOF1W/FyYc13l7A/YWm0CToMdNxJKtYnkf8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htqbMyMSA0D2yMasrw9mgni6b3DpYxxK9j33Y/9Sb0Q=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3Koezp0l3A49TMn/FcGOwjA2sdgY4HBEe4T/h6Lf3o=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heme/theme1.xml><?xml version="1.0" encoding="utf-8"?>
<a:theme xmlns:a="http://schemas.openxmlformats.org/drawingml/2006/main" name="Office 테마">
  <a:themeElements>
    <a:clrScheme name="수평선">
      <a:dk1>
        <a:srgbClr val="000000"/>
      </a:dk1>
      <a:lt1>
        <a:srgbClr val="FFFFFF"/>
      </a:lt1>
      <a:dk2>
        <a:srgbClr val="1F2123"/>
      </a:dk2>
      <a:lt2>
        <a:srgbClr val="DC9E1F"/>
      </a:lt2>
      <a:accent1>
        <a:srgbClr val="7E97AD"/>
      </a:accent1>
      <a:accent2>
        <a:srgbClr val="CC8E60"/>
      </a:accent2>
      <a:accent3>
        <a:srgbClr val="7A6A60"/>
      </a:accent3>
      <a:accent4>
        <a:srgbClr val="B4936D"/>
      </a:accent4>
      <a:accent5>
        <a:srgbClr val="67787B"/>
      </a:accent5>
      <a:accent6>
        <a:srgbClr val="9D936F"/>
      </a:accent6>
      <a:hlink>
        <a:srgbClr val="646464"/>
      </a:hlink>
      <a:folHlink>
        <a:srgbClr val="969696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78D7"/>
        </a:solidFill>
        <a:ln w="12700">
          <a:solidFill>
            <a:srgbClr val="0078D7"/>
          </a:solidFill>
        </a:ln>
      </a:spPr>
      <a:bodyPr wrap="none" rtlCol="0" anchor="ctr"/>
      <a:lstStyle>
        <a:defPPr>
          <a:defRPr sz="850" dirty="0">
            <a:solidFill>
              <a:srgbClr val="000000"/>
            </a:solidFill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17185</TotalTime>
  <Words>1179</Words>
  <Application>Microsoft Office PowerPoint</Application>
  <PresentationFormat>화면 슬라이드 쇼(16:10)</PresentationFormat>
  <Paragraphs>219</Paragraphs>
  <Slides>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나눔고딕</vt:lpstr>
      <vt:lpstr>맑은 고딕</vt:lpstr>
      <vt:lpstr>Arial</vt:lpstr>
      <vt:lpstr>Calibri</vt:lpstr>
      <vt:lpstr>Segoe UI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사용자</dc:creator>
  <cp:lastModifiedBy>Administrator</cp:lastModifiedBy>
  <cp:revision>1408</cp:revision>
  <cp:lastPrinted>2020-01-08T09:16:57Z</cp:lastPrinted>
  <dcterms:created xsi:type="dcterms:W3CDTF">2018-01-08T06:52:41Z</dcterms:created>
  <dcterms:modified xsi:type="dcterms:W3CDTF">2026-08-10T08:31:49Z</dcterms:modified>
</cp:coreProperties>
</file>